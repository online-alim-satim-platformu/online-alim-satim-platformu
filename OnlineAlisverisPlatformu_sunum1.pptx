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8" r:id="rId4"/>
    <p:sldId id="266" r:id="rId5"/>
    <p:sldId id="267" r:id="rId6"/>
    <p:sldId id="269" r:id="rId7"/>
    <p:sldId id="270" r:id="rId8"/>
    <p:sldId id="271" r:id="rId9"/>
    <p:sldId id="272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5A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4966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E88E5">
              <a:alpha val="15000"/>
            </a:srgbClr>
          </a:solidFill>
          <a:ln w="12700">
            <a:solidFill>
              <a:srgbClr val="1E88E5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0ACC1">
              <a:alpha val="20000"/>
            </a:srgbClr>
          </a:solidFill>
          <a:ln w="12700">
            <a:solidFill>
              <a:srgbClr val="00ACC1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0080"/>
            <a:ext cx="256032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Yazılım Mühendisliği — Bilgisayar Mühendisliği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Alışveriş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Platformu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DB5CC"/>
                </a:solidFill>
              </a:rPr>
              <a:t>İkinci El Alım Satım Sistemi — Proje Analiz Raporu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5486400" cy="0"/>
          </a:xfrm>
          <a:prstGeom prst="line">
            <a:avLst/>
          </a:prstGeom>
          <a:noFill/>
          <a:ln w="1905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ACC1"/>
                </a:solidFill>
              </a:rPr>
              <a:t>Grup Üyeleri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794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8E0"/>
                </a:solidFill>
              </a:rPr>
              <a:t>Fikran Türkkahraman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995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8E0"/>
                </a:solidFill>
              </a:rPr>
              <a:t>Fatma Berra Soylu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41970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8E0"/>
                </a:solidFill>
              </a:rPr>
              <a:t>Berat </a:t>
            </a:r>
            <a:r>
              <a:rPr lang="en-US" sz="1200" dirty="0" err="1">
                <a:solidFill>
                  <a:srgbClr val="B0C8E0"/>
                </a:solidFill>
              </a:rPr>
              <a:t>Şamma</a:t>
            </a:r>
            <a:r>
              <a:rPr lang="tr-TR" sz="1200" dirty="0">
                <a:solidFill>
                  <a:srgbClr val="B0C8E0"/>
                </a:solidFill>
              </a:rPr>
              <a:t>s</a:t>
            </a:r>
            <a:r>
              <a:rPr lang="en-US" sz="1200" dirty="0">
                <a:solidFill>
                  <a:srgbClr val="B0C8E0"/>
                </a:solidFill>
              </a:rPr>
              <a:t> Belge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3982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8E0"/>
                </a:solidFill>
              </a:rPr>
              <a:t>Özgür Yandımoğlu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5994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8E0"/>
                </a:solidFill>
              </a:rPr>
              <a:t>Ahmet Hakan Söğüt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Tanımı ve Kapsamı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0" y="-274320"/>
            <a:ext cx="1828800" cy="182880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34440"/>
            <a:ext cx="2743200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508760"/>
            <a:ext cx="914400" cy="914400"/>
          </a:xfrm>
          <a:prstGeom prst="ellipse">
            <a:avLst/>
          </a:prstGeom>
          <a:solidFill>
            <a:srgbClr val="1E88E5">
              <a:alpha val="85000"/>
            </a:srgbClr>
          </a:solidFill>
          <a:ln w="12700">
            <a:solidFill>
              <a:srgbClr val="1E88E5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5"/>
                </a:solidFill>
              </a:rPr>
              <a:t>Proje Amacı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0632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78"/>
                </a:solidFill>
              </a:rPr>
              <a:t>Kullanıcıların ikinci el eşyalarını kolayca alıp satabileceği, erişilebilir ve kullanıcı dostu bir dijital platform geliştirmek.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34440"/>
            <a:ext cx="2743200" cy="914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508760"/>
            <a:ext cx="914400" cy="914400"/>
          </a:xfrm>
          <a:prstGeom prst="ellipse">
            <a:avLst/>
          </a:prstGeom>
          <a:solidFill>
            <a:srgbClr val="00ACC1">
              <a:alpha val="85000"/>
            </a:srgbClr>
          </a:solidFill>
          <a:ln w="12700">
            <a:solidFill>
              <a:srgbClr val="00ACC1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3756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5"/>
                </a:solidFill>
              </a:rPr>
              <a:t>Kapsam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30632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78"/>
                </a:solidFill>
              </a:rPr>
              <a:t>Alıcı ve satıcıları buluşturan; ilan yönetimi, kategori </a:t>
            </a:r>
            <a:r>
              <a:rPr lang="en-US" sz="1000" dirty="0" err="1">
                <a:solidFill>
                  <a:srgbClr val="455A78"/>
                </a:solidFill>
              </a:rPr>
              <a:t>bazlı</a:t>
            </a:r>
            <a:r>
              <a:rPr lang="en-US" sz="1000" dirty="0">
                <a:solidFill>
                  <a:srgbClr val="455A78"/>
                </a:solidFill>
              </a:rPr>
              <a:t> </a:t>
            </a:r>
            <a:r>
              <a:rPr lang="en-US" sz="1000" dirty="0" err="1">
                <a:solidFill>
                  <a:srgbClr val="455A78"/>
                </a:solidFill>
              </a:rPr>
              <a:t>arama</a:t>
            </a:r>
            <a:r>
              <a:rPr lang="en-US" sz="1000" dirty="0">
                <a:solidFill>
                  <a:srgbClr val="455A78"/>
                </a:solidFill>
              </a:rPr>
              <a:t>, </a:t>
            </a:r>
            <a:r>
              <a:rPr lang="en-US" sz="1000" dirty="0" err="1">
                <a:solidFill>
                  <a:srgbClr val="455A78"/>
                </a:solidFill>
              </a:rPr>
              <a:t>satın</a:t>
            </a:r>
            <a:r>
              <a:rPr lang="en-US" sz="1000" dirty="0">
                <a:solidFill>
                  <a:srgbClr val="455A78"/>
                </a:solidFill>
              </a:rPr>
              <a:t> alma işlemlerini destekleyen sistem.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23444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234440"/>
            <a:ext cx="2743200" cy="914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508760"/>
            <a:ext cx="914400" cy="914400"/>
          </a:xfrm>
          <a:prstGeom prst="ellipse">
            <a:avLst/>
          </a:prstGeom>
          <a:solidFill>
            <a:srgbClr val="00838F">
              <a:alpha val="85000"/>
            </a:srgbClr>
          </a:solidFill>
          <a:ln w="12700">
            <a:solidFill>
              <a:srgbClr val="00838F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508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2606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5"/>
                </a:solidFill>
              </a:rPr>
              <a:t>Teknoloji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30632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78"/>
                </a:solidFill>
              </a:rPr>
              <a:t>C++ (Qt Creator IDE) ile nesne yönelimli mimari. Sade ve modüler yapı ön planda tutulmuştur.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9483679-CD89-4788-D2ED-202831888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29" y="0"/>
            <a:ext cx="75293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04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0530225-3DF8-B0D2-3AC3-3B239339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774736"/>
            <a:ext cx="6195060" cy="4155404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1573EA27-976C-6267-959A-3577618A930A}"/>
              </a:ext>
            </a:extLst>
          </p:cNvPr>
          <p:cNvSpPr txBox="1"/>
          <p:nvPr/>
        </p:nvSpPr>
        <p:spPr>
          <a:xfrm>
            <a:off x="2842260" y="66850"/>
            <a:ext cx="44577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Kayıt Ol Ekranı</a:t>
            </a:r>
          </a:p>
        </p:txBody>
      </p:sp>
    </p:spTree>
    <p:extLst>
      <p:ext uri="{BB962C8B-B14F-4D97-AF65-F5344CB8AC3E}">
        <p14:creationId xmlns:p14="http://schemas.microsoft.com/office/powerpoint/2010/main" val="1903009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401056D-8259-62AC-D86B-3EF0DF46E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621" y="769620"/>
            <a:ext cx="6281843" cy="415290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6D2611C3-25BE-780D-D4F6-1820D9D841CB}"/>
              </a:ext>
            </a:extLst>
          </p:cNvPr>
          <p:cNvSpPr txBox="1"/>
          <p:nvPr/>
        </p:nvSpPr>
        <p:spPr>
          <a:xfrm>
            <a:off x="2689860" y="61734"/>
            <a:ext cx="34061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Giriş Yap Ekranı</a:t>
            </a:r>
          </a:p>
        </p:txBody>
      </p:sp>
    </p:spTree>
    <p:extLst>
      <p:ext uri="{BB962C8B-B14F-4D97-AF65-F5344CB8AC3E}">
        <p14:creationId xmlns:p14="http://schemas.microsoft.com/office/powerpoint/2010/main" val="3603294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5164E7AF-E860-30C0-5EB8-72C3BD6FC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31" y="473214"/>
            <a:ext cx="6466418" cy="467106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6CE02D6A-09A7-7891-207A-45599BA42E2C}"/>
              </a:ext>
            </a:extLst>
          </p:cNvPr>
          <p:cNvSpPr txBox="1"/>
          <p:nvPr/>
        </p:nvSpPr>
        <p:spPr>
          <a:xfrm>
            <a:off x="3947160" y="56196"/>
            <a:ext cx="1356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Ana Sayfa</a:t>
            </a:r>
          </a:p>
        </p:txBody>
      </p:sp>
    </p:spTree>
    <p:extLst>
      <p:ext uri="{BB962C8B-B14F-4D97-AF65-F5344CB8AC3E}">
        <p14:creationId xmlns:p14="http://schemas.microsoft.com/office/powerpoint/2010/main" val="8275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F2764503-1B52-1354-7639-1C8407A36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860" y="347632"/>
            <a:ext cx="4370864" cy="4795868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CA86E850-1BC0-4B8E-889F-2E7A36023A46}"/>
              </a:ext>
            </a:extLst>
          </p:cNvPr>
          <p:cNvSpPr txBox="1"/>
          <p:nvPr/>
        </p:nvSpPr>
        <p:spPr>
          <a:xfrm>
            <a:off x="3649980" y="19288"/>
            <a:ext cx="1844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Filtreleme Ekranı</a:t>
            </a:r>
          </a:p>
        </p:txBody>
      </p:sp>
    </p:spTree>
    <p:extLst>
      <p:ext uri="{BB962C8B-B14F-4D97-AF65-F5344CB8AC3E}">
        <p14:creationId xmlns:p14="http://schemas.microsoft.com/office/powerpoint/2010/main" val="1839686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BC71F2F-79B1-9E19-CD7E-85FA2EA06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534" y="464820"/>
            <a:ext cx="6356931" cy="467868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6315FF2D-AC31-E185-BC8A-09C41C8F1753}"/>
              </a:ext>
            </a:extLst>
          </p:cNvPr>
          <p:cNvSpPr txBox="1"/>
          <p:nvPr/>
        </p:nvSpPr>
        <p:spPr>
          <a:xfrm>
            <a:off x="3772361" y="95488"/>
            <a:ext cx="1599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İlanı Görüntüle</a:t>
            </a:r>
          </a:p>
        </p:txBody>
      </p:sp>
    </p:spTree>
    <p:extLst>
      <p:ext uri="{BB962C8B-B14F-4D97-AF65-F5344CB8AC3E}">
        <p14:creationId xmlns:p14="http://schemas.microsoft.com/office/powerpoint/2010/main" val="642702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C3938830-ABB7-376E-8746-8F14C623C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927" y="320040"/>
            <a:ext cx="3622866" cy="4823460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7BB3742A-4157-6175-F4CD-E68F0EC6D852}"/>
              </a:ext>
            </a:extLst>
          </p:cNvPr>
          <p:cNvSpPr txBox="1"/>
          <p:nvPr/>
        </p:nvSpPr>
        <p:spPr>
          <a:xfrm>
            <a:off x="3867150" y="0"/>
            <a:ext cx="1074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İlan Ekle</a:t>
            </a:r>
          </a:p>
        </p:txBody>
      </p:sp>
    </p:spTree>
    <p:extLst>
      <p:ext uri="{BB962C8B-B14F-4D97-AF65-F5344CB8AC3E}">
        <p14:creationId xmlns:p14="http://schemas.microsoft.com/office/powerpoint/2010/main" val="1780115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Gereksinimleri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Fonksiyonel Gereksinimler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→  Kullanıcı kayıt olabilir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048256"/>
            <a:ext cx="365760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665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→  Kullanıcı sisteme giriş yapabilir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365760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957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→  Satıcı ilan ekleyebilir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706624"/>
            <a:ext cx="365760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249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→  Satıcı ilan silebilir / düzenleyebilir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035808"/>
            <a:ext cx="365760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054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→  Alıcı ürün arayabilir ve inceleyebilir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364992"/>
            <a:ext cx="365760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3832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45"/>
                </a:solidFill>
              </a:rPr>
              <a:t>→ </a:t>
            </a:r>
            <a:r>
              <a:rPr lang="en-US" sz="950" dirty="0" err="1">
                <a:solidFill>
                  <a:srgbClr val="1A2B45"/>
                </a:solidFill>
              </a:rPr>
              <a:t>Alıcı</a:t>
            </a:r>
            <a:r>
              <a:rPr lang="en-US" sz="950" dirty="0">
                <a:solidFill>
                  <a:srgbClr val="1A2B45"/>
                </a:solidFill>
              </a:rPr>
              <a:t> </a:t>
            </a:r>
            <a:r>
              <a:rPr lang="en-US" sz="950" dirty="0" err="1">
                <a:solidFill>
                  <a:srgbClr val="1A2B45"/>
                </a:solidFill>
              </a:rPr>
              <a:t>satın</a:t>
            </a:r>
            <a:r>
              <a:rPr lang="en-US" sz="950" dirty="0">
                <a:solidFill>
                  <a:srgbClr val="1A2B45"/>
                </a:solidFill>
              </a:rPr>
              <a:t> alma </a:t>
            </a:r>
            <a:r>
              <a:rPr lang="en-US" sz="950" dirty="0" err="1">
                <a:solidFill>
                  <a:srgbClr val="1A2B45"/>
                </a:solidFill>
              </a:rPr>
              <a:t>gerçekleştirebilir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694176"/>
            <a:ext cx="365760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7124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45"/>
                </a:solidFill>
              </a:rPr>
              <a:t>→ </a:t>
            </a:r>
            <a:r>
              <a:rPr lang="en-US" sz="950" dirty="0" err="1">
                <a:solidFill>
                  <a:srgbClr val="1A2B45"/>
                </a:solidFill>
              </a:rPr>
              <a:t>Sistem</a:t>
            </a:r>
            <a:r>
              <a:rPr lang="en-US" sz="950" dirty="0">
                <a:solidFill>
                  <a:srgbClr val="1A2B45"/>
                </a:solidFill>
              </a:rPr>
              <a:t> </a:t>
            </a:r>
            <a:r>
              <a:rPr lang="en-US" sz="950" dirty="0" err="1">
                <a:solidFill>
                  <a:srgbClr val="1A2B45"/>
                </a:solidFill>
              </a:rPr>
              <a:t>stok</a:t>
            </a:r>
            <a:r>
              <a:rPr lang="en-US" sz="950" dirty="0">
                <a:solidFill>
                  <a:srgbClr val="1A2B45"/>
                </a:solidFill>
              </a:rPr>
              <a:t> </a:t>
            </a:r>
            <a:r>
              <a:rPr lang="en-US" sz="950" dirty="0" err="1">
                <a:solidFill>
                  <a:srgbClr val="1A2B45"/>
                </a:solidFill>
              </a:rPr>
              <a:t>otomatik</a:t>
            </a:r>
            <a:r>
              <a:rPr lang="en-US" sz="950" dirty="0">
                <a:solidFill>
                  <a:srgbClr val="1A2B45"/>
                </a:solidFill>
              </a:rPr>
              <a:t> </a:t>
            </a:r>
            <a:r>
              <a:rPr lang="en-US" sz="950" dirty="0" err="1">
                <a:solidFill>
                  <a:srgbClr val="1A2B45"/>
                </a:solidFill>
              </a:rPr>
              <a:t>güncelleyebilir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023360"/>
            <a:ext cx="365760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416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18872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188720"/>
            <a:ext cx="4297680" cy="4114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188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Fonksiyonel Olmayan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7373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Kullanılabilirlik — Sade, anlaşılır arayüz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20848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Performans — Akıcı filtreleme &amp; işlemler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24323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Bakım Edilebilirlik — Modüler mimari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154680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154680"/>
            <a:ext cx="4297680" cy="4114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154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 Sözde (Pseudo) Gereksinimler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7033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Programlama Dili: C++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40507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IDE: Qt Creator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43982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OOP prensiplerine uygun geliştirme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Modeli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640080" cy="640080"/>
          </a:xfrm>
          <a:prstGeom prst="ellipse">
            <a:avLst/>
          </a:prstGeom>
          <a:solidFill>
            <a:srgbClr val="607D8B">
              <a:alpha val="80000"/>
            </a:srgbClr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5"/>
                </a:solidFill>
              </a:rPr>
              <a:t>Misafir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A2B45"/>
                </a:solidFill>
              </a:rPr>
              <a:t>Kullanıcı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40280" y="1280160"/>
            <a:ext cx="640080" cy="640080"/>
          </a:xfrm>
          <a:prstGeom prst="ellipse">
            <a:avLst/>
          </a:prstGeom>
          <a:solidFill>
            <a:srgbClr val="1E88E5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920240" y="1965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5"/>
                </a:solidFill>
              </a:rPr>
              <a:t>Alıcı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86200" y="1280160"/>
            <a:ext cx="640080" cy="640080"/>
          </a:xfrm>
          <a:prstGeom prst="ellipse">
            <a:avLst/>
          </a:prstGeom>
          <a:solidFill>
            <a:srgbClr val="00838F">
              <a:alpha val="8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862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6160" y="1965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2B45"/>
                </a:solidFill>
              </a:rPr>
              <a:t>Satıcı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74320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55A78"/>
                </a:solidFill>
              </a:rPr>
              <a:t>Aktörler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2468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55A78"/>
                </a:solidFill>
              </a:rPr>
              <a:t>Use Case Listesi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1148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88920"/>
            <a:ext cx="64008" cy="347472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889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Sisteme Kayıt Ol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278892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07D8B"/>
                </a:solidFill>
              </a:rPr>
              <a:t>Misafir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209544"/>
            <a:ext cx="41148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209544"/>
            <a:ext cx="64008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095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Sisteme Giriş Yap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0" y="320954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Alıcı/Satıcı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3630168"/>
            <a:ext cx="41148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630168"/>
            <a:ext cx="64008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30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Ürünleri Ara ve Görüntüle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0" y="363016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Alıcı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4050792"/>
            <a:ext cx="411480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050792"/>
            <a:ext cx="64008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507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B45"/>
                </a:solidFill>
              </a:rPr>
              <a:t>Ürün Detayını İncele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4050792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E88E5"/>
                </a:solidFill>
              </a:rPr>
              <a:t>Alıcı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447141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788920"/>
            <a:ext cx="4206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7" name="Shape 35"/>
          <p:cNvSpPr/>
          <p:nvPr/>
        </p:nvSpPr>
        <p:spPr>
          <a:xfrm>
            <a:off x="4663440" y="2788920"/>
            <a:ext cx="64008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7889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950" dirty="0">
                <a:solidFill>
                  <a:srgbClr val="1A2B45"/>
                </a:solidFill>
              </a:rPr>
              <a:t>Satın Alımı Gerçekleştir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0" y="2788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 err="1">
                <a:solidFill>
                  <a:srgbClr val="1E88E5"/>
                </a:solidFill>
              </a:rPr>
              <a:t>Alıcı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3209544"/>
            <a:ext cx="4206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42" name="Text 40"/>
          <p:cNvSpPr/>
          <p:nvPr/>
        </p:nvSpPr>
        <p:spPr>
          <a:xfrm>
            <a:off x="4800600" y="32095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950" dirty="0">
                <a:solidFill>
                  <a:srgbClr val="1A2B45"/>
                </a:solidFill>
              </a:rPr>
              <a:t>Yeni İlan Ver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863840" y="32095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tr-TR" sz="800" b="1" dirty="0">
                <a:solidFill>
                  <a:srgbClr val="00838F"/>
                </a:solidFill>
              </a:rPr>
              <a:t>Satıcı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3630168"/>
            <a:ext cx="4206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4663440" y="3630168"/>
            <a:ext cx="64008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6301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950" dirty="0">
                <a:solidFill>
                  <a:srgbClr val="1A2B45"/>
                </a:solidFill>
              </a:rPr>
              <a:t>İlanlarımı Yönet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863840" y="36301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800" b="1" dirty="0">
                <a:solidFill>
                  <a:srgbClr val="00838F"/>
                </a:solidFill>
              </a:rPr>
              <a:t>Satıcı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4050792"/>
            <a:ext cx="4206240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4050792"/>
            <a:ext cx="64008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05079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950" dirty="0">
                <a:solidFill>
                  <a:srgbClr val="1A2B45"/>
                </a:solidFill>
              </a:rPr>
              <a:t>İlanı Düzenle / Sil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863840" y="40507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838F"/>
                </a:solidFill>
              </a:rPr>
              <a:t>Satıcı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00600" y="447141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56" name="Shape 43">
            <a:extLst>
              <a:ext uri="{FF2B5EF4-FFF2-40B4-BE49-F238E27FC236}">
                <a16:creationId xmlns:a16="http://schemas.microsoft.com/office/drawing/2014/main" id="{41906176-3A15-71DA-A781-6D3BA7204D4C}"/>
              </a:ext>
            </a:extLst>
          </p:cNvPr>
          <p:cNvSpPr/>
          <p:nvPr/>
        </p:nvSpPr>
        <p:spPr>
          <a:xfrm>
            <a:off x="4663440" y="3208020"/>
            <a:ext cx="64008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Diyagramı &amp; Durum Diyagramları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0838F"/>
                </a:solidFill>
              </a:rPr>
              <a:t>Sınıf</a:t>
            </a:r>
            <a:r>
              <a:rPr lang="en-US" sz="1100" b="1" dirty="0">
                <a:solidFill>
                  <a:srgbClr val="00838F"/>
                </a:solidFill>
              </a:rPr>
              <a:t> </a:t>
            </a:r>
            <a:r>
              <a:rPr lang="tr-TR" sz="1100" b="1" dirty="0">
                <a:solidFill>
                  <a:srgbClr val="00838F"/>
                </a:solidFill>
              </a:rPr>
              <a:t>Fonksiyonları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3200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Kullanıcı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743200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5"/>
                </a:solidFill>
              </a:rPr>
              <a:t>- kullaniciAdi: String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5"/>
                </a:solidFill>
              </a:rPr>
              <a:t>- sifre: String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23865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B45"/>
                </a:solidFill>
              </a:rPr>
              <a:t>- email: String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651760"/>
            <a:ext cx="274320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651760"/>
            <a:ext cx="27432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79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88E5"/>
                </a:solidFill>
              </a:rPr>
              <a:t>+ girisYap(): boolean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128016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Alıcı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429000"/>
            <a:ext cx="128016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2971800"/>
            <a:ext cx="0" cy="182880"/>
          </a:xfrm>
          <a:prstGeom prst="line">
            <a:avLst/>
          </a:prstGeom>
          <a:noFill/>
          <a:ln w="12700">
            <a:solidFill>
              <a:srgbClr val="455A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3154680"/>
            <a:ext cx="1280160" cy="2743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Satıcı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91640" y="3429000"/>
            <a:ext cx="128016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2971800"/>
            <a:ext cx="0" cy="182880"/>
          </a:xfrm>
          <a:prstGeom prst="line">
            <a:avLst/>
          </a:prstGeom>
          <a:noFill/>
          <a:ln w="12700">
            <a:solidFill>
              <a:srgbClr val="455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931920"/>
            <a:ext cx="2743200" cy="2926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İlan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24528"/>
            <a:ext cx="274320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51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B45"/>
                </a:solidFill>
              </a:rPr>
              <a:t>- ilanNo: int   - fiyat: double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5760" y="45079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B45"/>
                </a:solidFill>
              </a:rPr>
              <a:t>+ ilanEkle()  + ilanSil()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91840" y="1508760"/>
            <a:ext cx="1005840" cy="29260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Kategori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91840" y="1801368"/>
            <a:ext cx="10058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828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B45"/>
                </a:solidFill>
              </a:rPr>
              <a:t>- kategoriAdi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337560" y="20665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B45"/>
                </a:solidFill>
              </a:rPr>
              <a:t>+ yeniSekmeAc()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0" y="11887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Durum </a:t>
            </a:r>
            <a:r>
              <a:rPr lang="tr-TR" sz="1100" b="1" dirty="0">
                <a:solidFill>
                  <a:srgbClr val="00838F"/>
                </a:solidFill>
              </a:rPr>
              <a:t>Fonksiyonları</a:t>
            </a:r>
          </a:p>
        </p:txBody>
      </p:sp>
      <p:sp>
        <p:nvSpPr>
          <p:cNvPr id="34" name="Shape 32"/>
          <p:cNvSpPr/>
          <p:nvPr/>
        </p:nvSpPr>
        <p:spPr>
          <a:xfrm>
            <a:off x="4572000" y="155448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1554480"/>
            <a:ext cx="4297680" cy="2926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1554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İlan Durum </a:t>
            </a:r>
            <a:r>
              <a:rPr lang="tr-TR" sz="950" b="1" dirty="0">
                <a:solidFill>
                  <a:srgbClr val="FFFFFF"/>
                </a:solidFill>
              </a:rPr>
              <a:t>Fonksiyonları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196596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88E5">
              <a:alpha val="20000"/>
            </a:srgbClr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1965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Taslak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5376672" y="196596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5449824" y="196596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88E5">
              <a:alpha val="20000"/>
            </a:srgbClr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49824" y="1965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Yayında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6163056" y="196596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236208" y="196596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88E5">
              <a:alpha val="20000"/>
            </a:srgbClr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1965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İnceleniyor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6949440" y="196596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022592" y="196596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88E5">
              <a:alpha val="20000"/>
            </a:srgbClr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1965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Satıldı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7735824" y="196596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808976" y="196596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1E88E5">
              <a:alpha val="20000"/>
            </a:srgbClr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08976" y="19659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Kaldırıldı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4572000" y="274320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0" y="2743200"/>
            <a:ext cx="4297680" cy="29260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27432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Kullanıcı Durum </a:t>
            </a:r>
            <a:r>
              <a:rPr lang="tr-TR" sz="950" b="1" dirty="0">
                <a:solidFill>
                  <a:srgbClr val="FFFFFF"/>
                </a:solidFill>
              </a:rPr>
              <a:t>Fonksiyonları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315468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00838F">
              <a:alpha val="20000"/>
            </a:srgbClr>
          </a:solidFill>
          <a:ln w="10160">
            <a:solidFill>
              <a:srgbClr val="0083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31546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SistemeGiris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5449824" y="315468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00838F">
              <a:alpha val="20000"/>
            </a:srgbClr>
          </a:solidFill>
          <a:ln w="10160">
            <a:solidFill>
              <a:srgbClr val="00838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49824" y="31546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AnaSayfa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163056" y="315468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236208" y="315468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00838F">
              <a:alpha val="20000"/>
            </a:srgbClr>
          </a:solidFill>
          <a:ln w="10160">
            <a:solidFill>
              <a:srgbClr val="00838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36208" y="31546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İlanİnceleme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949440" y="315468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7022592" y="315468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00838F">
              <a:alpha val="20000"/>
            </a:srgbClr>
          </a:solidFill>
          <a:ln w="10160">
            <a:solidFill>
              <a:srgbClr val="00838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22592" y="31546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İlanEkleme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735824" y="315468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808976" y="315468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00838F">
              <a:alpha val="20000"/>
            </a:srgbClr>
          </a:solidFill>
          <a:ln w="10160">
            <a:solidFill>
              <a:srgbClr val="00838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08976" y="31546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Çıkış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572000" y="3931920"/>
            <a:ext cx="4297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572000" y="3931920"/>
            <a:ext cx="4297680" cy="29260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617720" y="39319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Login Durum </a:t>
            </a:r>
            <a:r>
              <a:rPr lang="tr-TR" sz="950" b="1" dirty="0">
                <a:solidFill>
                  <a:srgbClr val="FFFFFF"/>
                </a:solidFill>
              </a:rPr>
              <a:t>Fonksiyonları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663440" y="434340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546E7A">
              <a:alpha val="20000"/>
            </a:srgbClr>
          </a:solidFill>
          <a:ln w="10160">
            <a:solidFill>
              <a:srgbClr val="546E7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0" y="4343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GirisYapılmamış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5376672" y="434340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5646420" y="434340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546E7A">
              <a:alpha val="20000"/>
            </a:srgbClr>
          </a:solidFill>
          <a:ln w="10160">
            <a:solidFill>
              <a:srgbClr val="546E7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46420" y="4343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BilgiGiriliyor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6359652" y="434340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629400" y="434340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546E7A">
              <a:alpha val="20000"/>
            </a:srgbClr>
          </a:solidFill>
          <a:ln w="10160">
            <a:solidFill>
              <a:srgbClr val="546E7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29400" y="4343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GirisKontrol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7342632" y="4343400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7612380" y="4343400"/>
            <a:ext cx="713232" cy="256032"/>
          </a:xfrm>
          <a:prstGeom prst="roundRect">
            <a:avLst>
              <a:gd name="adj" fmla="val 17857"/>
            </a:avLst>
          </a:prstGeom>
          <a:solidFill>
            <a:srgbClr val="546E7A">
              <a:alpha val="20000"/>
            </a:srgbClr>
          </a:solidFill>
          <a:ln w="10160">
            <a:solidFill>
              <a:srgbClr val="546E7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612380" y="4343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A2B45"/>
                </a:solidFill>
              </a:rPr>
              <a:t>GirisBasarili / Basarisiz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Sıralama &amp; Aktivite Diyagramları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</a:rPr>
              <a:t>Sıralama (Sekans) Diyagramları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2377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2743200" cy="3474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Senaryo 1: Kullanıcı Giriş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1.  Kullanıcı → Sistem: Giriş bilgileri gönderir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2221992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94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2.  Sistem → Veritabanı: Doğrulama sorgusu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569464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968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3.  Veritabanı → Sistem: Sonuç döner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916936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4.  Sistem → Kullanıcı: Başarılı/Hatalı giriş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0" y="1463040"/>
            <a:ext cx="274320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463040"/>
            <a:ext cx="274320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Senaryo 2: İlan Ekleme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1840" y="1901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1.  Kullanıcı → Sistem: İlan ekle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0" y="2221992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2494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2.  Sistem → Kullanıcı: Form göster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91840" y="2569464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5968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3.  Kullanıcı → Sistem: Bilgileri girer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91840" y="2916936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4.  Sistem → Veritabanı: Kaydeder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91840" y="3264408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5.  Sistem → Admin: Bildirim gönderir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91840" y="3611880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639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6.  Admin → Sistem: Onay verir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1463040"/>
            <a:ext cx="2743200" cy="2423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1463040"/>
            <a:ext cx="2743200" cy="347472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Senaryo 3: İlan Filtreleme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17920" y="19019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1.  Kullanıcı → Sistem: Filtre kriterleri seçer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217920" y="2221992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22494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2.  Sistem → Veritabanı: Sorgu gönderir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17920" y="2569464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25968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3.  Veritabanı → Sistem: Filtrelenmiş kayıtlar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17920" y="2916936"/>
            <a:ext cx="2560320" cy="0"/>
          </a:xfrm>
          <a:prstGeom prst="line">
            <a:avLst/>
          </a:prstGeom>
          <a:noFill/>
          <a:ln w="6350">
            <a:solidFill>
              <a:srgbClr val="E8EE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29443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2B45"/>
                </a:solidFill>
              </a:rPr>
              <a:t>4.  Sistem → Kullanıcı: Sonuçları gösterir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432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38F"/>
                </a:solidFill>
              </a:rPr>
              <a:t>Aktivite Diyagramı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29768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1E88E5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297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5"/>
                </a:solidFill>
              </a:rPr>
              <a:t>İlanı İncele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554480" y="4549140"/>
            <a:ext cx="182880" cy="0"/>
          </a:xfrm>
          <a:prstGeom prst="line">
            <a:avLst/>
          </a:prstGeom>
          <a:noFill/>
          <a:ln w="19050">
            <a:solidFill>
              <a:srgbClr val="455A7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37360" y="429768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1E88E5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37360" y="4297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5"/>
                </a:solidFill>
              </a:rPr>
              <a:t>Teklif Ver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017520" y="4549140"/>
            <a:ext cx="182880" cy="0"/>
          </a:xfrm>
          <a:prstGeom prst="line">
            <a:avLst/>
          </a:prstGeom>
          <a:noFill/>
          <a:ln w="19050">
            <a:solidFill>
              <a:srgbClr val="455A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0" y="429768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00838F">
              <a:alpha val="8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0" y="4297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5"/>
                </a:solidFill>
              </a:rPr>
              <a:t>Ödeme Yap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480560" y="4549140"/>
            <a:ext cx="182880" cy="0"/>
          </a:xfrm>
          <a:prstGeom prst="line">
            <a:avLst/>
          </a:prstGeom>
          <a:noFill/>
          <a:ln w="19050">
            <a:solidFill>
              <a:srgbClr val="455A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63440" y="429768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00838F">
              <a:alpha val="80000"/>
            </a:srgbClr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4297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5"/>
                </a:solidFill>
              </a:rPr>
              <a:t>Kargo Gönder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943600" y="4549140"/>
            <a:ext cx="182880" cy="0"/>
          </a:xfrm>
          <a:prstGeom prst="line">
            <a:avLst/>
          </a:prstGeom>
          <a:noFill/>
          <a:ln w="19050">
            <a:solidFill>
              <a:srgbClr val="455A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429768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26480" y="4297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5"/>
                </a:solidFill>
              </a:rPr>
              <a:t>Onayla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406640" y="4549140"/>
            <a:ext cx="182880" cy="0"/>
          </a:xfrm>
          <a:prstGeom prst="line">
            <a:avLst/>
          </a:prstGeom>
          <a:noFill/>
          <a:ln w="19050">
            <a:solidFill>
              <a:srgbClr val="455A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89520" y="4297680"/>
            <a:ext cx="1280160" cy="502920"/>
          </a:xfrm>
          <a:prstGeom prst="roundRect">
            <a:avLst>
              <a:gd name="adj" fmla="val 12727"/>
            </a:avLst>
          </a:prstGeom>
          <a:solidFill>
            <a:srgbClr val="4CAF50">
              <a:alpha val="8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89520" y="4297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B45"/>
                </a:solidFill>
              </a:rPr>
              <a:t>Tamamlandı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55A78"/>
                </a:solidFill>
              </a:rPr>
              <a:t>Kulvarlar: Alıcı  |  Sistem  |  Satıcı    •    Alternatif akışlar: Teklif reddi, iade talebi, emlak/vasıta elden teslim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Arayüzü Tasarımları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502920"/>
          </a:xfrm>
          <a:prstGeom prst="rect">
            <a:avLst/>
          </a:prstGeom>
          <a:solidFill>
            <a:srgbClr val="1E88E5">
              <a:alpha val="90000"/>
            </a:srgbClr>
          </a:solidFill>
          <a:ln w="12700">
            <a:solidFill>
              <a:srgbClr val="1E88E5">
                <a:alpha val="9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🔐  Kayıt Ol / Giriş Yap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45"/>
                </a:solidFill>
              </a:rPr>
              <a:t>Ad, Soyad, E-posta, Şifre. Google/Apple ile hızlı giriş seçeneği.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743200" cy="502920"/>
          </a:xfrm>
          <a:prstGeom prst="rect">
            <a:avLst/>
          </a:prstGeom>
          <a:solidFill>
            <a:srgbClr val="00838F">
              <a:alpha val="90000"/>
            </a:srgbClr>
          </a:solidFill>
          <a:ln w="12700">
            <a:solidFill>
              <a:srgbClr val="00838F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🏠  Ana Sayfa &amp; Arama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18013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45"/>
                </a:solidFill>
              </a:rPr>
              <a:t>Arama çubuğu, Emlak/Vasıta/Elektronik/Giyim kategorileri, ilan vitrini.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solidFill>
            <a:srgbClr val="546E7A">
              <a:alpha val="90000"/>
            </a:srgbClr>
          </a:solidFill>
          <a:ln w="12700">
            <a:solidFill>
              <a:srgbClr val="546E7A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34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 Filtreleme Ekranı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8013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45"/>
                </a:solidFill>
              </a:rPr>
              <a:t>Fiyat aralığı, marka, model, durum (ikinci el/sıfır), garanti süresi.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2743200" cy="502920"/>
          </a:xfrm>
          <a:prstGeom prst="rect">
            <a:avLst/>
          </a:prstGeom>
          <a:solidFill>
            <a:srgbClr val="00ACC1">
              <a:alpha val="90000"/>
            </a:srgbClr>
          </a:solidFill>
          <a:ln w="12700">
            <a:solidFill>
              <a:srgbClr val="00ACC1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📄  İlan Detay Sayfası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72160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45"/>
                </a:solidFill>
              </a:rPr>
              <a:t>Ürün fotoğrafı, fiyat, satıcı bilgisi (tel/e-posta), açıklama, favorilere ekle.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315468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154680"/>
            <a:ext cx="2743200" cy="502920"/>
          </a:xfrm>
          <a:prstGeom prst="rect">
            <a:avLst/>
          </a:prstGeom>
          <a:solidFill>
            <a:srgbClr val="1E88E5">
              <a:alpha val="90000"/>
            </a:srgbClr>
          </a:solidFill>
          <a:ln w="12700">
            <a:solidFill>
              <a:srgbClr val="1E88E5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➕  İlan Ekleme Formu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72160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45"/>
                </a:solidFill>
              </a:rPr>
              <a:t>Başlık, fiyat, durum, açıklama, kategori özellikleri (marka, model vb.).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74320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154680"/>
            <a:ext cx="2743200" cy="502920"/>
          </a:xfrm>
          <a:prstGeom prst="rect">
            <a:avLst/>
          </a:prstGeom>
          <a:solidFill>
            <a:srgbClr val="00838F">
              <a:alpha val="90000"/>
            </a:srgbClr>
          </a:solidFill>
          <a:ln w="12700">
            <a:solidFill>
              <a:srgbClr val="00838F">
                <a:alpha val="9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 Kullanıcı Profili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72160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B45"/>
                </a:solidFill>
              </a:rPr>
              <a:t>Kişisel bilgiler, aktif ilanlar, düzenleme ve silme işlemleri.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Karşılaşılan Zorluklar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0" cy="548640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5"/>
                </a:solidFill>
              </a:rPr>
              <a:t>Gereksinim Belirleme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55A78"/>
                </a:solidFill>
              </a:rPr>
              <a:t>Alıcı ve satıcı rollerinin ayrımı ile her kategoriye özel filtreleme gereksinimlerinin belirlenmesi karmaşık bir analiz süreci gerektirdi.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16052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200" b="1" dirty="0">
                <a:solidFill>
                  <a:srgbClr val="1A2B45"/>
                </a:solidFill>
              </a:rPr>
              <a:t>Teorik Bilgi Eksikliği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1168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r-TR" sz="950" dirty="0">
                <a:solidFill>
                  <a:schemeClr val="tx2">
                    <a:lumMod val="75000"/>
                  </a:schemeClr>
                </a:solidFill>
              </a:rPr>
              <a:t>Kodlama sürecinin henüz başında olduğumuz için kodlara bağlı tasarım yapmakta zorlandık </a:t>
            </a:r>
            <a:endParaRPr lang="en-US" sz="9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16052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291840"/>
            <a:ext cx="548640" cy="548640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B45"/>
                </a:solidFill>
              </a:rPr>
              <a:t>Kategori Bazlı Tasarım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8862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55A78"/>
                </a:solidFill>
              </a:rPr>
              <a:t>Her kategori (Emlak, Vasıta, Elektronik, Giyim) için ayrı filtreleme kriterleri ve ilan formları tasarlamak arayüz karmaşıklığını artırdı.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4160520" cy="1645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21" name="Shape 19"/>
          <p:cNvSpPr/>
          <p:nvPr/>
        </p:nvSpPr>
        <p:spPr>
          <a:xfrm>
            <a:off x="4846320" y="3291840"/>
            <a:ext cx="548640" cy="548640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1200" b="1" dirty="0">
                <a:solidFill>
                  <a:srgbClr val="1A2B45"/>
                </a:solidFill>
              </a:rPr>
              <a:t>Ekip İçi Senkronizasyon Problemi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886200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tr-TR" sz="950" dirty="0">
                <a:solidFill>
                  <a:srgbClr val="455A78"/>
                </a:solidFill>
              </a:rPr>
              <a:t>Ekip üyeleri arasında zamanlama ve iletişim farklılıkları nedeniyle senkronizasyon sorunları yaşandı. Bu durum bazı görevlerde gecikmelere yol açtı. Düzenli iletişimle çözülmeye çalışıldı.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Bundan Sonraki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7498080" cy="0"/>
          </a:xfrm>
          <a:prstGeom prst="line">
            <a:avLst/>
          </a:prstGeom>
          <a:noFill/>
          <a:ln w="25400">
            <a:solidFill>
              <a:srgbClr val="BDC8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83080"/>
            <a:ext cx="402336" cy="402336"/>
          </a:xfrm>
          <a:prstGeom prst="ellipse">
            <a:avLst/>
          </a:prstGeom>
          <a:solidFill>
            <a:srgbClr val="1E88E5"/>
          </a:solidFill>
          <a:ln w="254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" y="2263140"/>
            <a:ext cx="210312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0114" y="2263140"/>
            <a:ext cx="2075688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" y="22692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Faz 1: Tasarım Tamamlama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779776"/>
            <a:ext cx="128016" cy="12801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776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1A2B45"/>
                </a:solidFill>
              </a:rPr>
              <a:t>Diyagram</a:t>
            </a:r>
            <a:r>
              <a:rPr lang="tr-TR" sz="900" dirty="0" err="1">
                <a:solidFill>
                  <a:srgbClr val="1A2B45"/>
                </a:solidFill>
              </a:rPr>
              <a:t>ların</a:t>
            </a:r>
            <a:r>
              <a:rPr lang="tr-TR" sz="900" dirty="0">
                <a:solidFill>
                  <a:srgbClr val="1A2B45"/>
                </a:solidFill>
              </a:rPr>
              <a:t> hazırlanması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3282696"/>
            <a:ext cx="128016" cy="12801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88209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900" dirty="0">
                <a:solidFill>
                  <a:srgbClr val="1A2B45"/>
                </a:solidFill>
              </a:rPr>
              <a:t>Arayüz prototip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" y="3806952"/>
            <a:ext cx="128016" cy="12801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033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tr-TR" sz="900" dirty="0">
                <a:solidFill>
                  <a:srgbClr val="1A2B45"/>
                </a:solidFill>
              </a:rPr>
              <a:t>Analiz raporu hazırlandı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18104" y="178308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3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90572" y="2286000"/>
            <a:ext cx="219456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304288" y="2278380"/>
            <a:ext cx="219456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4392" y="22692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Faz 2: Geliştirme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13432" y="2779776"/>
            <a:ext cx="128016" cy="128016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0028" y="26776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45"/>
                </a:solidFill>
              </a:rPr>
              <a:t>Qt Creator ile arayüz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13432" y="3282696"/>
            <a:ext cx="128016" cy="128016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96312" y="31912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45"/>
                </a:solidFill>
              </a:rPr>
              <a:t>C++ backend kodu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13432" y="3785616"/>
            <a:ext cx="128016" cy="128016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87168" y="36972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45"/>
                </a:solidFill>
              </a:rPr>
              <a:t>Kullanıcı giriş modülü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14416" y="178308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98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53712" y="2258568"/>
            <a:ext cx="2194560" cy="2496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53712" y="2266188"/>
            <a:ext cx="2194560" cy="38404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227685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Faz 3: Test &amp; Entegrasyon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49724" y="2779776"/>
            <a:ext cx="128016" cy="128016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01184" y="26776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45"/>
                </a:solidFill>
              </a:rPr>
              <a:t>Birim testleri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49724" y="3276600"/>
            <a:ext cx="128016" cy="128016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1866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45"/>
                </a:solidFill>
              </a:rPr>
              <a:t>Kullanıcı testleri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57344" y="3806952"/>
            <a:ext cx="128016" cy="128016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01184" y="3703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45"/>
                </a:solidFill>
              </a:rPr>
              <a:t>Hata giderme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10728" y="1783080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76288" y="2286000"/>
            <a:ext cx="219456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85432" y="2286000"/>
            <a:ext cx="2185416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22692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Faz 4: Sunum &amp; Teslimat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90588" y="2779776"/>
            <a:ext cx="128016" cy="12801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46620" y="26746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45"/>
                </a:solidFill>
              </a:rPr>
              <a:t>Final rapor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69252" y="3340608"/>
            <a:ext cx="128016" cy="12801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44" name="Text 42"/>
          <p:cNvSpPr/>
          <p:nvPr/>
        </p:nvSpPr>
        <p:spPr>
          <a:xfrm>
            <a:off x="7264908" y="324231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45"/>
                </a:solidFill>
              </a:rPr>
              <a:t>Demo hazırlığı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69252" y="3849624"/>
            <a:ext cx="128016" cy="128016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87768" y="37231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B45"/>
                </a:solidFill>
              </a:rPr>
              <a:t>Proje teslimi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1371600"/>
            <a:ext cx="2743200" cy="2743200"/>
          </a:xfrm>
          <a:prstGeom prst="ellipse">
            <a:avLst/>
          </a:prstGeom>
          <a:solidFill>
            <a:srgbClr val="00ACC1">
              <a:alpha val="15000"/>
            </a:srgbClr>
          </a:solidFill>
          <a:ln w="12700">
            <a:solidFill>
              <a:srgbClr val="00ACC1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4206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Fikran Türkkahraman  •  Fatma Berra Soylu  •  Berat </a:t>
            </a:r>
            <a:r>
              <a:rPr lang="en-US" sz="900" dirty="0" err="1">
                <a:solidFill>
                  <a:srgbClr val="FFFFFF"/>
                </a:solidFill>
              </a:rPr>
              <a:t>Şamma</a:t>
            </a:r>
            <a:r>
              <a:rPr lang="tr-TR" sz="900" dirty="0">
                <a:solidFill>
                  <a:srgbClr val="FFFFFF"/>
                </a:solidFill>
              </a:rPr>
              <a:t>s</a:t>
            </a:r>
            <a:r>
              <a:rPr lang="en-US" sz="900" dirty="0">
                <a:solidFill>
                  <a:srgbClr val="FFFFFF"/>
                </a:solidFill>
              </a:rPr>
              <a:t> Belge  •  Özgür Yandımoğlu  •  Ahmet Hakan Söğüt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789</Words>
  <Application>Microsoft Office PowerPoint</Application>
  <PresentationFormat>Ekran Gösterisi (16:9)</PresentationFormat>
  <Paragraphs>185</Paragraphs>
  <Slides>17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Alışveriş Platformu - Proje Sunumu</dc:title>
  <dc:subject>PptxGenJS Presentation</dc:subject>
  <dc:creator>PptxGenJS</dc:creator>
  <cp:lastModifiedBy>Ahmet Hakan Söğüt</cp:lastModifiedBy>
  <cp:revision>4</cp:revision>
  <dcterms:created xsi:type="dcterms:W3CDTF">2026-04-05T14:11:43Z</dcterms:created>
  <dcterms:modified xsi:type="dcterms:W3CDTF">2026-04-05T18:24:26Z</dcterms:modified>
</cp:coreProperties>
</file>