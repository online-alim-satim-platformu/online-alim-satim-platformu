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4" r:id="rId7"/>
    <p:sldId id="273" r:id="rId8"/>
    <p:sldId id="262" r:id="rId9"/>
    <p:sldId id="267" r:id="rId10"/>
    <p:sldId id="268" r:id="rId11"/>
    <p:sldId id="269" r:id="rId12"/>
    <p:sldId id="270" r:id="rId13"/>
    <p:sldId id="271" r:id="rId14"/>
    <p:sldId id="272" r:id="rId15"/>
  </p:sldIdLst>
  <p:sldSz cx="18288000" cy="10287000"/>
  <p:notesSz cx="6858000" cy="9144000"/>
  <p:embeddedFontLst>
    <p:embeddedFont>
      <p:font typeface="Helvetica World Italics" panose="020B0604020202020204" charset="-128"/>
      <p:regular r:id="rId17"/>
    </p:embeddedFont>
    <p:embeddedFont>
      <p:font typeface="Source Sans Pro Bold" panose="020B0604020202020204" charset="0"/>
      <p:regular r:id="rId18"/>
    </p:embeddedFont>
    <p:embeddedFont>
      <p:font typeface="Source Sans Pro Italics" panose="020B0604020202020204" charset="-94"/>
      <p:regular r:id="rId19"/>
    </p:embeddedFont>
    <p:embeddedFont>
      <p:font typeface="Helvetica World" panose="020B0604020202020204" charset="-128"/>
      <p:regular r:id="rId20"/>
    </p:embeddedFon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Source Sans Pro" panose="020B0604020202020204" charset="0"/>
      <p:regular r:id="rId25"/>
    </p:embeddedFont>
    <p:embeddedFont>
      <p:font typeface="Helvetica World Bold" panose="020B0604020202020204" charset="-128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245" y="-28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40C20-7E02-4CE4-B27D-529A19E594A8}" type="datetimeFigureOut">
              <a:rPr lang="tr-TR" smtClean="0"/>
              <a:t>17.05.2026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11403-9258-4D68-8DCF-FB65E541020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9462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411403-9258-4D68-8DCF-FB65E541020E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5917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Relationship Id="rId9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9.png"/><Relationship Id="rId7" Type="http://schemas.openxmlformats.org/officeDocument/2006/relationships/image" Target="../media/image1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15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3.png"/><Relationship Id="rId10" Type="http://schemas.openxmlformats.org/officeDocument/2006/relationships/image" Target="../media/image22.svg"/><Relationship Id="rId4" Type="http://schemas.openxmlformats.org/officeDocument/2006/relationships/image" Target="../media/image18.sv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18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12" Type="http://schemas.openxmlformats.org/officeDocument/2006/relationships/image" Target="../media/image28.svg"/><Relationship Id="rId2" Type="http://schemas.openxmlformats.org/officeDocument/2006/relationships/image" Target="../media/image1.jpe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5" Type="http://schemas.openxmlformats.org/officeDocument/2006/relationships/image" Target="../media/image20.png"/><Relationship Id="rId10" Type="http://schemas.openxmlformats.org/officeDocument/2006/relationships/image" Target="../media/image12.svg"/><Relationship Id="rId4" Type="http://schemas.openxmlformats.org/officeDocument/2006/relationships/image" Target="../media/image24.svg"/><Relationship Id="rId9" Type="http://schemas.openxmlformats.org/officeDocument/2006/relationships/image" Target="../media/image8.png"/><Relationship Id="rId1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0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23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12" Type="http://schemas.openxmlformats.org/officeDocument/2006/relationships/image" Target="../media/image28.svg"/><Relationship Id="rId2" Type="http://schemas.openxmlformats.org/officeDocument/2006/relationships/image" Target="../media/image1.jpe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5" Type="http://schemas.openxmlformats.org/officeDocument/2006/relationships/image" Target="../media/image25.png"/><Relationship Id="rId10" Type="http://schemas.openxmlformats.org/officeDocument/2006/relationships/image" Target="../media/image12.svg"/><Relationship Id="rId4" Type="http://schemas.openxmlformats.org/officeDocument/2006/relationships/image" Target="../media/image24.svg"/><Relationship Id="rId9" Type="http://schemas.openxmlformats.org/officeDocument/2006/relationships/image" Target="../media/image8.png"/><Relationship Id="rId1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sv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9.png"/><Relationship Id="rId7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Relationship Id="rId9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0.png"/><Relationship Id="rId7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Relationship Id="rId9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31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2.png"/><Relationship Id="rId4" Type="http://schemas.openxmlformats.org/officeDocument/2006/relationships/image" Target="../media/image3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13" Type="http://schemas.openxmlformats.org/officeDocument/2006/relationships/image" Target="../media/image33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12" Type="http://schemas.openxmlformats.org/officeDocument/2006/relationships/image" Target="../media/image28.svg"/><Relationship Id="rId2" Type="http://schemas.openxmlformats.org/officeDocument/2006/relationships/image" Target="../media/image1.jpeg"/><Relationship Id="rId16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5" Type="http://schemas.openxmlformats.org/officeDocument/2006/relationships/image" Target="../media/image35.png"/><Relationship Id="rId10" Type="http://schemas.openxmlformats.org/officeDocument/2006/relationships/image" Target="../media/image12.svg"/><Relationship Id="rId4" Type="http://schemas.openxmlformats.org/officeDocument/2006/relationships/image" Target="../media/image24.svg"/><Relationship Id="rId9" Type="http://schemas.openxmlformats.org/officeDocument/2006/relationships/image" Target="../media/image8.png"/><Relationship Id="rId1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svg"/><Relationship Id="rId5" Type="http://schemas.openxmlformats.org/officeDocument/2006/relationships/image" Target="../media/image38.png"/><Relationship Id="rId10" Type="http://schemas.openxmlformats.org/officeDocument/2006/relationships/image" Target="../media/image12.svg"/><Relationship Id="rId4" Type="http://schemas.openxmlformats.org/officeDocument/2006/relationships/image" Target="../media/image55.sv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610100" y="-109631"/>
            <a:ext cx="13677900" cy="9785848"/>
            <a:chOff x="0" y="0"/>
            <a:chExt cx="3602410" cy="25773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02410" cy="2577343"/>
            </a:xfrm>
            <a:custGeom>
              <a:avLst/>
              <a:gdLst/>
              <a:ahLst/>
              <a:cxnLst/>
              <a:rect l="l" t="t" r="r" b="b"/>
              <a:pathLst>
                <a:path w="3602410" h="2577343">
                  <a:moveTo>
                    <a:pt x="0" y="0"/>
                  </a:moveTo>
                  <a:lnTo>
                    <a:pt x="3602410" y="0"/>
                  </a:lnTo>
                  <a:lnTo>
                    <a:pt x="3602410" y="2577343"/>
                  </a:lnTo>
                  <a:lnTo>
                    <a:pt x="0" y="2577343"/>
                  </a:lnTo>
                  <a:close/>
                </a:path>
              </a:pathLst>
            </a:custGeom>
            <a:solidFill>
              <a:srgbClr val="02305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3602410" cy="2672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2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5400000" flipH="1" flipV="1">
            <a:off x="-5968007" y="3945931"/>
            <a:ext cx="10287000" cy="2395139"/>
          </a:xfrm>
          <a:custGeom>
            <a:avLst/>
            <a:gdLst/>
            <a:ahLst/>
            <a:cxnLst/>
            <a:rect l="l" t="t" r="r" b="b"/>
            <a:pathLst>
              <a:path w="10287000" h="2395139">
                <a:moveTo>
                  <a:pt x="10287000" y="2395138"/>
                </a:moveTo>
                <a:lnTo>
                  <a:pt x="0" y="2395138"/>
                </a:lnTo>
                <a:lnTo>
                  <a:pt x="0" y="0"/>
                </a:lnTo>
                <a:lnTo>
                  <a:pt x="10287000" y="0"/>
                </a:lnTo>
                <a:lnTo>
                  <a:pt x="10287000" y="239513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l="-1026" t="-57958" b="-958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772241" y="0"/>
            <a:ext cx="6376712" cy="9069886"/>
            <a:chOff x="0" y="0"/>
            <a:chExt cx="1484175" cy="211100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84175" cy="2111009"/>
            </a:xfrm>
            <a:custGeom>
              <a:avLst/>
              <a:gdLst/>
              <a:ahLst/>
              <a:cxnLst/>
              <a:rect l="l" t="t" r="r" b="b"/>
              <a:pathLst>
                <a:path w="1484175" h="2111009">
                  <a:moveTo>
                    <a:pt x="0" y="0"/>
                  </a:moveTo>
                  <a:lnTo>
                    <a:pt x="1484175" y="0"/>
                  </a:lnTo>
                  <a:lnTo>
                    <a:pt x="1484175" y="2111009"/>
                  </a:lnTo>
                  <a:lnTo>
                    <a:pt x="0" y="2111009"/>
                  </a:lnTo>
                  <a:close/>
                </a:path>
              </a:pathLst>
            </a:custGeom>
            <a:blipFill>
              <a:blip r:embed="rId5"/>
              <a:stretch>
                <a:fillRect l="-3071" r="-3071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1201098" y="432927"/>
            <a:ext cx="2153203" cy="2153203"/>
          </a:xfrm>
          <a:custGeom>
            <a:avLst/>
            <a:gdLst/>
            <a:ahLst/>
            <a:cxnLst/>
            <a:rect l="l" t="t" r="r" b="b"/>
            <a:pathLst>
              <a:path w="2153203" h="2153203">
                <a:moveTo>
                  <a:pt x="0" y="0"/>
                </a:moveTo>
                <a:lnTo>
                  <a:pt x="2153204" y="0"/>
                </a:lnTo>
                <a:lnTo>
                  <a:pt x="2153204" y="2153204"/>
                </a:lnTo>
                <a:lnTo>
                  <a:pt x="0" y="21532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7802653" y="6177243"/>
            <a:ext cx="2235004" cy="4951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4111"/>
              </a:lnSpc>
            </a:pPr>
            <a:r>
              <a:rPr lang="en-US" sz="2937">
                <a:solidFill>
                  <a:srgbClr val="5C8BC3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Grup Üyeleri: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01000" y="6709521"/>
            <a:ext cx="5756615" cy="2656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0"/>
              </a:lnSpc>
            </a:pPr>
            <a:r>
              <a:rPr lang="en-US" sz="2252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BERAT ŞAMMAS BELGE-24100011074</a:t>
            </a:r>
          </a:p>
          <a:p>
            <a:pPr>
              <a:lnSpc>
                <a:spcPts val="3490"/>
              </a:lnSpc>
            </a:pPr>
            <a:r>
              <a:rPr lang="en-US" sz="2252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AHMET HAKAN SÖĞÜT-24100011020</a:t>
            </a:r>
          </a:p>
          <a:p>
            <a:pPr>
              <a:lnSpc>
                <a:spcPts val="3490"/>
              </a:lnSpc>
            </a:pPr>
            <a:r>
              <a:rPr lang="en-US" sz="2252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FİKRAN TÜRKKAHRAMAN-24100011026</a:t>
            </a:r>
          </a:p>
          <a:p>
            <a:pPr>
              <a:lnSpc>
                <a:spcPts val="3490"/>
              </a:lnSpc>
            </a:pPr>
            <a:r>
              <a:rPr lang="en-US" sz="2252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FATMA BERRA SOYLU-25100011476</a:t>
            </a:r>
          </a:p>
          <a:p>
            <a:pPr>
              <a:lnSpc>
                <a:spcPts val="3490"/>
              </a:lnSpc>
            </a:pPr>
            <a:r>
              <a:rPr lang="en-US" sz="2252" b="1" dirty="0">
                <a:solidFill>
                  <a:srgbClr val="FFFFFF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ÖZGÜR YANDIMOĞLU-24100011009 </a:t>
            </a:r>
          </a:p>
          <a:p>
            <a:pPr marL="0" lvl="0" indent="0" algn="r">
              <a:lnSpc>
                <a:spcPts val="3490"/>
              </a:lnSpc>
            </a:pPr>
            <a:endParaRPr lang="en-US" sz="2252" b="1" dirty="0">
              <a:solidFill>
                <a:srgbClr val="FFFFFF"/>
              </a:solidFill>
              <a:latin typeface="Source Sans Pro Bold"/>
              <a:ea typeface="Source Sans Pro Bold"/>
              <a:cs typeface="Source Sans Pro Bold"/>
              <a:sym typeface="Source Sans Pro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3354302" y="6234393"/>
            <a:ext cx="3619248" cy="1023632"/>
            <a:chOff x="0" y="0"/>
            <a:chExt cx="4825664" cy="136484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-85725"/>
              <a:ext cx="1564059" cy="661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4319"/>
                </a:lnSpc>
              </a:pPr>
              <a:r>
                <a:rPr lang="en-US" sz="2879">
                  <a:solidFill>
                    <a:srgbClr val="5C8BC3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Bölüm: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742425"/>
              <a:ext cx="4825664" cy="6224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4130"/>
                </a:lnSpc>
              </a:pPr>
              <a:r>
                <a:rPr lang="en-US" sz="2664" b="1">
                  <a:solidFill>
                    <a:srgbClr val="FFFFF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Bilgisayar Mühendisliği 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411614" y="2849718"/>
            <a:ext cx="9561936" cy="1933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576"/>
              </a:lnSpc>
            </a:pPr>
            <a:r>
              <a:rPr lang="en-US" sz="631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Online Alışveriş Platformu</a:t>
            </a:r>
          </a:p>
          <a:p>
            <a:pPr marL="0" lvl="0" indent="0" algn="r">
              <a:lnSpc>
                <a:spcPts val="7576"/>
              </a:lnSpc>
            </a:pPr>
            <a:r>
              <a:rPr lang="en-US" sz="6314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Alım Satım Sistemi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74350" y="5222219"/>
            <a:ext cx="6299200" cy="4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924"/>
              </a:lnSpc>
            </a:pPr>
            <a:r>
              <a:rPr lang="en-US" sz="2532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Yazılım Mühendisliği Projesi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6629669"/>
            <a:ext cx="18288000" cy="3657331"/>
            <a:chOff x="0" y="0"/>
            <a:chExt cx="4256517" cy="8512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56517" cy="851241"/>
            </a:xfrm>
            <a:custGeom>
              <a:avLst/>
              <a:gdLst/>
              <a:ahLst/>
              <a:cxnLst/>
              <a:rect l="l" t="t" r="r" b="b"/>
              <a:pathLst>
                <a:path w="4256517" h="851241">
                  <a:moveTo>
                    <a:pt x="0" y="0"/>
                  </a:moveTo>
                  <a:lnTo>
                    <a:pt x="4256517" y="0"/>
                  </a:lnTo>
                  <a:lnTo>
                    <a:pt x="4256517" y="851241"/>
                  </a:lnTo>
                  <a:lnTo>
                    <a:pt x="0" y="851241"/>
                  </a:lnTo>
                  <a:close/>
                </a:path>
              </a:pathLst>
            </a:custGeom>
            <a:blipFill>
              <a:blip r:embed="rId3"/>
              <a:stretch>
                <a:fillRect t="-92510" b="-9251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4801003"/>
            <a:ext cx="9067800" cy="3657331"/>
            <a:chOff x="0" y="0"/>
            <a:chExt cx="2388227" cy="9632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8227" cy="963248"/>
            </a:xfrm>
            <a:custGeom>
              <a:avLst/>
              <a:gdLst/>
              <a:ahLst/>
              <a:cxnLst/>
              <a:rect l="l" t="t" r="r" b="b"/>
              <a:pathLst>
                <a:path w="2388227" h="963248">
                  <a:moveTo>
                    <a:pt x="0" y="0"/>
                  </a:moveTo>
                  <a:lnTo>
                    <a:pt x="2388227" y="0"/>
                  </a:lnTo>
                  <a:lnTo>
                    <a:pt x="2388227" y="963248"/>
                  </a:lnTo>
                  <a:lnTo>
                    <a:pt x="0" y="963248"/>
                  </a:lnTo>
                  <a:close/>
                </a:path>
              </a:pathLst>
            </a:custGeom>
            <a:solidFill>
              <a:srgbClr val="5C8B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388227" cy="1058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2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27689" y="1444425"/>
            <a:ext cx="6539802" cy="4247363"/>
            <a:chOff x="0" y="0"/>
            <a:chExt cx="8719736" cy="5663150"/>
          </a:xfrm>
        </p:grpSpPr>
        <p:sp>
          <p:nvSpPr>
            <p:cNvPr id="9" name="Freeform 9"/>
            <p:cNvSpPr/>
            <p:nvPr/>
          </p:nvSpPr>
          <p:spPr>
            <a:xfrm>
              <a:off x="0" y="1230468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302193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5443956" cy="726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25"/>
                </a:lnSpc>
              </a:pPr>
              <a:r>
                <a:rPr lang="en-US" sz="3017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Temel Hedefler: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7400" y="1110784"/>
              <a:ext cx="7932336" cy="9661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Alıcı ve satıcıları dijital ortamda güvenli ve kolay bir şekilde buluşturan platform oluşturmak.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7400" y="2902246"/>
              <a:ext cx="7932336" cy="9661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Kullanıcı dostu, erişilebilir masaüstü uygulama geliştirmek ve geniş kitlelere ulaşmak.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4816694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787400" y="4697010"/>
              <a:ext cx="7932336" cy="9661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C++ programlama dili ve Qt framework teknolojileri ile güçlü altyapı sağlamak.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0" y="-2475412"/>
            <a:ext cx="18288000" cy="2848475"/>
          </a:xfrm>
          <a:custGeom>
            <a:avLst/>
            <a:gdLst/>
            <a:ahLst/>
            <a:cxnLst/>
            <a:rect l="l" t="t" r="r" b="b"/>
            <a:pathLst>
              <a:path w="18288000" h="2848475">
                <a:moveTo>
                  <a:pt x="0" y="0"/>
                </a:moveTo>
                <a:lnTo>
                  <a:pt x="18288000" y="0"/>
                </a:lnTo>
                <a:lnTo>
                  <a:pt x="18288000" y="2848474"/>
                </a:lnTo>
                <a:lnTo>
                  <a:pt x="0" y="28484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 t="-237867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384300" y="1021556"/>
            <a:ext cx="6299200" cy="3426603"/>
            <a:chOff x="0" y="-9525"/>
            <a:chExt cx="8398933" cy="4568803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7763139" cy="1304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74"/>
                </a:lnSpc>
              </a:pPr>
              <a:r>
                <a:rPr lang="en-US" sz="6395">
                  <a:solidFill>
                    <a:srgbClr val="00182E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Proje Tanıtımı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1501775"/>
              <a:ext cx="8398933" cy="30575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79"/>
                </a:lnSpc>
              </a:pPr>
              <a:r>
                <a:rPr lang="tr-TR" sz="2400" dirty="0"/>
                <a:t>“Bu projede kullanıcıların ikinci el ürünlerini güvenli ve kolay şekilde alıp satabildiği masaüstü tabanlı bir platform geliştirdik. Sistem; kullanıcı yönetimi, ilan oluşturma, ürün arama-filtreleme, satın alma ve stok yönetimi gibi temel e-ticaret süreçlerini kapsamaktadır.”</a:t>
              </a:r>
              <a:endParaRPr lang="en-US" sz="2128" dirty="0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84300" y="5686808"/>
            <a:ext cx="6299200" cy="1514339"/>
            <a:chOff x="0" y="0"/>
            <a:chExt cx="8398933" cy="2019119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66675"/>
              <a:ext cx="5443956" cy="726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25"/>
                </a:lnSpc>
              </a:pPr>
              <a:r>
                <a:rPr lang="en-US" sz="3017" b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Vizyon: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052980"/>
              <a:ext cx="8398933" cy="9661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Türkiye'de ikinci el alışveriş deneyimini dönüştürerek güvenilir, şeffaf ve erişilebilir bir pazar yeri oluşturmak.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8592232" y="7572530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6" y="0"/>
                </a:lnTo>
                <a:lnTo>
                  <a:pt x="95113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 t="-78900" r="-112980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5994400" y="0"/>
            <a:ext cx="12293600" cy="5410321"/>
            <a:chOff x="0" y="0"/>
            <a:chExt cx="3237821" cy="14249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37821" cy="1424940"/>
            </a:xfrm>
            <a:custGeom>
              <a:avLst/>
              <a:gdLst/>
              <a:ahLst/>
              <a:cxnLst/>
              <a:rect l="l" t="t" r="r" b="b"/>
              <a:pathLst>
                <a:path w="3237821" h="1424940">
                  <a:moveTo>
                    <a:pt x="0" y="0"/>
                  </a:moveTo>
                  <a:lnTo>
                    <a:pt x="3237821" y="0"/>
                  </a:lnTo>
                  <a:lnTo>
                    <a:pt x="3237821" y="1424940"/>
                  </a:lnTo>
                  <a:lnTo>
                    <a:pt x="0" y="1424940"/>
                  </a:lnTo>
                  <a:close/>
                </a:path>
              </a:pathLst>
            </a:custGeom>
            <a:solidFill>
              <a:srgbClr val="02305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3237821" cy="15201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2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62118" y="0"/>
            <a:ext cx="7642562" cy="4630891"/>
            <a:chOff x="0" y="0"/>
            <a:chExt cx="2223473" cy="134727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23473" cy="1347278"/>
            </a:xfrm>
            <a:custGeom>
              <a:avLst/>
              <a:gdLst/>
              <a:ahLst/>
              <a:cxnLst/>
              <a:rect l="l" t="t" r="r" b="b"/>
              <a:pathLst>
                <a:path w="2223473" h="1347278">
                  <a:moveTo>
                    <a:pt x="0" y="0"/>
                  </a:moveTo>
                  <a:lnTo>
                    <a:pt x="2223473" y="0"/>
                  </a:lnTo>
                  <a:lnTo>
                    <a:pt x="2223473" y="1347278"/>
                  </a:lnTo>
                  <a:lnTo>
                    <a:pt x="0" y="1347278"/>
                  </a:lnTo>
                  <a:close/>
                </a:path>
              </a:pathLst>
            </a:custGeom>
            <a:blipFill>
              <a:blip r:embed="rId3"/>
              <a:stretch>
                <a:fillRect l="-3152" r="-3152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0" y="9913938"/>
            <a:ext cx="18288000" cy="2094236"/>
          </a:xfrm>
          <a:custGeom>
            <a:avLst/>
            <a:gdLst/>
            <a:ahLst/>
            <a:cxnLst/>
            <a:rect l="l" t="t" r="r" b="b"/>
            <a:pathLst>
              <a:path w="18288000" h="2094236">
                <a:moveTo>
                  <a:pt x="0" y="0"/>
                </a:moveTo>
                <a:lnTo>
                  <a:pt x="18288000" y="0"/>
                </a:lnTo>
                <a:lnTo>
                  <a:pt x="18288000" y="2094236"/>
                </a:lnTo>
                <a:lnTo>
                  <a:pt x="0" y="20942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t="-47634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067800" y="671544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7" y="0"/>
                </a:lnTo>
                <a:lnTo>
                  <a:pt x="951137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 t="-78900" r="-112980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735389" y="-860009"/>
            <a:ext cx="2768600" cy="2768600"/>
          </a:xfrm>
          <a:custGeom>
            <a:avLst/>
            <a:gdLst/>
            <a:ahLst/>
            <a:cxnLst/>
            <a:rect l="l" t="t" r="r" b="b"/>
            <a:pathLst>
              <a:path w="2768600" h="2768600">
                <a:moveTo>
                  <a:pt x="0" y="0"/>
                </a:moveTo>
                <a:lnTo>
                  <a:pt x="2768600" y="0"/>
                </a:lnTo>
                <a:lnTo>
                  <a:pt x="2768600" y="2768600"/>
                </a:lnTo>
                <a:lnTo>
                  <a:pt x="0" y="2768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9999"/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9602679" y="1394587"/>
            <a:ext cx="7301021" cy="2341126"/>
            <a:chOff x="0" y="-9525"/>
            <a:chExt cx="9734695" cy="3121502"/>
          </a:xfrm>
        </p:grpSpPr>
        <p:sp>
          <p:nvSpPr>
            <p:cNvPr id="12" name="TextBox 12"/>
            <p:cNvSpPr txBox="1"/>
            <p:nvPr/>
          </p:nvSpPr>
          <p:spPr>
            <a:xfrm>
              <a:off x="465540" y="-9525"/>
              <a:ext cx="9269154" cy="1304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r">
                <a:lnSpc>
                  <a:spcPts val="7674"/>
                </a:lnSpc>
              </a:pPr>
              <a:r>
                <a:rPr lang="en-US" sz="6395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Problem ve Çözüm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1573094"/>
              <a:ext cx="9734695" cy="1538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r">
                <a:lnSpc>
                  <a:spcPts val="2979"/>
                </a:lnSpc>
              </a:pPr>
              <a:r>
                <a:rPr lang="tr-TR" sz="2800" dirty="0">
                  <a:solidFill>
                    <a:schemeClr val="bg1"/>
                  </a:solidFill>
                </a:rPr>
                <a:t>“Türkiye’de ikinci el alışveriş süreçlerinde güven eksikliği, bilgi asimetrisi ve karmaşık işlem akışları kullanıcı deneyimini zorlaştırmaktadır.”</a:t>
              </a:r>
              <a:endParaRPr lang="en-US" sz="2800" dirty="0">
                <a:solidFill>
                  <a:schemeClr val="bg1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84300" y="6009081"/>
            <a:ext cx="4082967" cy="56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25"/>
              </a:lnSpc>
            </a:pPr>
            <a:r>
              <a:rPr lang="en-US" sz="3017" b="1">
                <a:solidFill>
                  <a:srgbClr val="0018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4300" y="6808674"/>
            <a:ext cx="4082967" cy="1479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79"/>
              </a:lnSpc>
            </a:pPr>
            <a:r>
              <a:rPr lang="en-US" sz="2128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İkinci el pazarında bilgi asimetrisi ve güven eksikliği</a:t>
            </a:r>
          </a:p>
          <a:p>
            <a:pPr marL="0" lvl="0" indent="0" algn="l">
              <a:lnSpc>
                <a:spcPts val="2979"/>
              </a:lnSpc>
            </a:pPr>
            <a:r>
              <a:rPr lang="en-US" sz="2128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Karmaşık ve zaman alan alım-satım süreçleri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838950" y="6009081"/>
            <a:ext cx="4082967" cy="56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25"/>
              </a:lnSpc>
            </a:pPr>
            <a:r>
              <a:rPr lang="en-US" sz="3017" b="1">
                <a:solidFill>
                  <a:srgbClr val="0018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Hedef: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38950" y="6808674"/>
            <a:ext cx="4082967" cy="110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79"/>
              </a:lnSpc>
            </a:pPr>
            <a:r>
              <a:rPr lang="en-US" sz="2128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Tek platformda alıcı ve satıcıları güvenli şekilde buluşturmak</a:t>
            </a:r>
          </a:p>
          <a:p>
            <a:pPr marL="0" lvl="0" indent="0" algn="l">
              <a:lnSpc>
                <a:spcPts val="2979"/>
              </a:lnSpc>
            </a:pPr>
            <a:r>
              <a:rPr lang="en-US" sz="2128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Kullanıcı dostu deneyim sunmak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293600" y="6009081"/>
            <a:ext cx="4082967" cy="561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225"/>
              </a:lnSpc>
            </a:pPr>
            <a:r>
              <a:rPr lang="en-US" sz="3017" b="1">
                <a:solidFill>
                  <a:srgbClr val="0018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Çözüm: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293600" y="6808674"/>
            <a:ext cx="4082967" cy="110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79"/>
              </a:lnSpc>
            </a:pPr>
            <a:r>
              <a:rPr lang="en-US" sz="2128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Basit ve güvenilir kullanıcı arayüzü</a:t>
            </a:r>
          </a:p>
          <a:p>
            <a:pPr marL="0" lvl="0" indent="0" algn="l">
              <a:lnSpc>
                <a:spcPts val="2979"/>
              </a:lnSpc>
            </a:pPr>
            <a:r>
              <a:rPr lang="en-US" sz="2128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Rol bazlı erişim kontrolü ile güvenlik</a:t>
            </a:r>
          </a:p>
          <a:p>
            <a:pPr marL="0" lvl="0" indent="0" algn="l">
              <a:lnSpc>
                <a:spcPts val="2979"/>
              </a:lnSpc>
            </a:pPr>
            <a:r>
              <a:rPr lang="en-US" sz="2128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Anlık stok güncelleme ve filtreleme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9913938"/>
            <a:ext cx="18288000" cy="4927049"/>
          </a:xfrm>
          <a:custGeom>
            <a:avLst/>
            <a:gdLst/>
            <a:ahLst/>
            <a:cxnLst/>
            <a:rect l="l" t="t" r="r" b="b"/>
            <a:pathLst>
              <a:path w="18288000" h="4927049">
                <a:moveTo>
                  <a:pt x="0" y="0"/>
                </a:moveTo>
                <a:lnTo>
                  <a:pt x="18288000" y="0"/>
                </a:lnTo>
                <a:lnTo>
                  <a:pt x="18288000" y="4927049"/>
                </a:lnTo>
                <a:lnTo>
                  <a:pt x="0" y="4927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t="-196940"/>
            </a:stretch>
          </a:blipFill>
        </p:spPr>
      </p:sp>
      <p:grpSp>
        <p:nvGrpSpPr>
          <p:cNvPr id="4" name="Group 4"/>
          <p:cNvGrpSpPr/>
          <p:nvPr/>
        </p:nvGrpSpPr>
        <p:grpSpPr>
          <a:xfrm rot="5400000">
            <a:off x="7676483" y="-8049545"/>
            <a:ext cx="2935034" cy="18288000"/>
            <a:chOff x="0" y="0"/>
            <a:chExt cx="773013" cy="481659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73013" cy="4816592"/>
            </a:xfrm>
            <a:custGeom>
              <a:avLst/>
              <a:gdLst/>
              <a:ahLst/>
              <a:cxnLst/>
              <a:rect l="l" t="t" r="r" b="b"/>
              <a:pathLst>
                <a:path w="773013" h="4816592">
                  <a:moveTo>
                    <a:pt x="0" y="0"/>
                  </a:moveTo>
                  <a:lnTo>
                    <a:pt x="773013" y="0"/>
                  </a:lnTo>
                  <a:lnTo>
                    <a:pt x="773013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23059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85725"/>
              <a:ext cx="773013" cy="4902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6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2242927" y="3946680"/>
            <a:ext cx="1651763" cy="4080218"/>
            <a:chOff x="0" y="0"/>
            <a:chExt cx="435032" cy="10746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5032" cy="1074625"/>
            </a:xfrm>
            <a:custGeom>
              <a:avLst/>
              <a:gdLst/>
              <a:ahLst/>
              <a:cxnLst/>
              <a:rect l="l" t="t" r="r" b="b"/>
              <a:pathLst>
                <a:path w="435032" h="1074625">
                  <a:moveTo>
                    <a:pt x="0" y="0"/>
                  </a:moveTo>
                  <a:lnTo>
                    <a:pt x="435032" y="0"/>
                  </a:lnTo>
                  <a:lnTo>
                    <a:pt x="435032" y="1074625"/>
                  </a:lnTo>
                  <a:lnTo>
                    <a:pt x="0" y="1074625"/>
                  </a:lnTo>
                  <a:close/>
                </a:path>
              </a:pathLst>
            </a:custGeom>
            <a:solidFill>
              <a:srgbClr val="02305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435032" cy="1160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66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97998" y="5736641"/>
            <a:ext cx="3350805" cy="4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99"/>
              </a:lnSpc>
            </a:pPr>
            <a:r>
              <a:rPr lang="en-US" sz="2428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Sunum Katmanı</a:t>
            </a:r>
          </a:p>
        </p:txBody>
      </p:sp>
      <p:grpSp>
        <p:nvGrpSpPr>
          <p:cNvPr id="11" name="Group 11"/>
          <p:cNvGrpSpPr/>
          <p:nvPr/>
        </p:nvGrpSpPr>
        <p:grpSpPr>
          <a:xfrm rot="5400000">
            <a:off x="6139640" y="3325849"/>
            <a:ext cx="1651763" cy="4450151"/>
            <a:chOff x="0" y="0"/>
            <a:chExt cx="435032" cy="11720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5032" cy="1172056"/>
            </a:xfrm>
            <a:custGeom>
              <a:avLst/>
              <a:gdLst/>
              <a:ahLst/>
              <a:cxnLst/>
              <a:rect l="l" t="t" r="r" b="b"/>
              <a:pathLst>
                <a:path w="435032" h="1172056">
                  <a:moveTo>
                    <a:pt x="0" y="0"/>
                  </a:moveTo>
                  <a:lnTo>
                    <a:pt x="435032" y="0"/>
                  </a:lnTo>
                  <a:lnTo>
                    <a:pt x="435032" y="1172056"/>
                  </a:lnTo>
                  <a:lnTo>
                    <a:pt x="0" y="1172056"/>
                  </a:lnTo>
                  <a:close/>
                </a:path>
              </a:pathLst>
            </a:custGeom>
            <a:solidFill>
              <a:srgbClr val="5C8BC3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85725"/>
              <a:ext cx="435032" cy="12577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66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479677" y="5300777"/>
            <a:ext cx="3350805" cy="4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99"/>
              </a:lnSpc>
            </a:pPr>
            <a:r>
              <a:rPr lang="en-US" sz="2428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Uygulama Katmanı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10220589" y="2890716"/>
            <a:ext cx="1651763" cy="4448689"/>
            <a:chOff x="0" y="0"/>
            <a:chExt cx="435032" cy="117167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5032" cy="1171671"/>
            </a:xfrm>
            <a:custGeom>
              <a:avLst/>
              <a:gdLst/>
              <a:ahLst/>
              <a:cxnLst/>
              <a:rect l="l" t="t" r="r" b="b"/>
              <a:pathLst>
                <a:path w="435032" h="1171671">
                  <a:moveTo>
                    <a:pt x="0" y="0"/>
                  </a:moveTo>
                  <a:lnTo>
                    <a:pt x="435032" y="0"/>
                  </a:lnTo>
                  <a:lnTo>
                    <a:pt x="435032" y="1171671"/>
                  </a:lnTo>
                  <a:lnTo>
                    <a:pt x="0" y="1171671"/>
                  </a:lnTo>
                  <a:close/>
                </a:path>
              </a:pathLst>
            </a:custGeom>
            <a:solidFill>
              <a:srgbClr val="02305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435032" cy="1257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66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559895" y="4631550"/>
            <a:ext cx="3350805" cy="919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99"/>
              </a:lnSpc>
            </a:pPr>
            <a:r>
              <a:rPr lang="en-US" sz="2428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Veritabanı Erişim Katmanı</a:t>
            </a:r>
          </a:p>
        </p:txBody>
      </p:sp>
      <p:grpSp>
        <p:nvGrpSpPr>
          <p:cNvPr id="19" name="Group 19"/>
          <p:cNvGrpSpPr/>
          <p:nvPr/>
        </p:nvGrpSpPr>
        <p:grpSpPr>
          <a:xfrm rot="5400000">
            <a:off x="14300807" y="2500699"/>
            <a:ext cx="1651763" cy="4448689"/>
            <a:chOff x="0" y="0"/>
            <a:chExt cx="435032" cy="117167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35032" cy="1171671"/>
            </a:xfrm>
            <a:custGeom>
              <a:avLst/>
              <a:gdLst/>
              <a:ahLst/>
              <a:cxnLst/>
              <a:rect l="l" t="t" r="r" b="b"/>
              <a:pathLst>
                <a:path w="435032" h="1171671">
                  <a:moveTo>
                    <a:pt x="0" y="0"/>
                  </a:moveTo>
                  <a:lnTo>
                    <a:pt x="435032" y="0"/>
                  </a:lnTo>
                  <a:lnTo>
                    <a:pt x="435032" y="1171671"/>
                  </a:lnTo>
                  <a:lnTo>
                    <a:pt x="0" y="1171671"/>
                  </a:lnTo>
                  <a:close/>
                </a:path>
              </a:pathLst>
            </a:custGeom>
            <a:solidFill>
              <a:srgbClr val="5C8BC3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85725"/>
              <a:ext cx="435032" cy="1257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66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rot="-9247649" flipH="1">
            <a:off x="2700151" y="4260418"/>
            <a:ext cx="746497" cy="627991"/>
          </a:xfrm>
          <a:custGeom>
            <a:avLst/>
            <a:gdLst/>
            <a:ahLst/>
            <a:cxnLst/>
            <a:rect l="l" t="t" r="r" b="b"/>
            <a:pathLst>
              <a:path w="746497" h="627991">
                <a:moveTo>
                  <a:pt x="746498" y="0"/>
                </a:moveTo>
                <a:lnTo>
                  <a:pt x="0" y="0"/>
                </a:lnTo>
                <a:lnTo>
                  <a:pt x="0" y="627991"/>
                </a:lnTo>
                <a:lnTo>
                  <a:pt x="746498" y="627991"/>
                </a:lnTo>
                <a:lnTo>
                  <a:pt x="74649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-9247649" flipH="1">
            <a:off x="6592273" y="3824554"/>
            <a:ext cx="746497" cy="627991"/>
          </a:xfrm>
          <a:custGeom>
            <a:avLst/>
            <a:gdLst/>
            <a:ahLst/>
            <a:cxnLst/>
            <a:rect l="l" t="t" r="r" b="b"/>
            <a:pathLst>
              <a:path w="746497" h="627991">
                <a:moveTo>
                  <a:pt x="746497" y="0"/>
                </a:moveTo>
                <a:lnTo>
                  <a:pt x="0" y="0"/>
                </a:lnTo>
                <a:lnTo>
                  <a:pt x="0" y="627991"/>
                </a:lnTo>
                <a:lnTo>
                  <a:pt x="746497" y="627991"/>
                </a:lnTo>
                <a:lnTo>
                  <a:pt x="74649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rot="-9247649" flipH="1">
            <a:off x="10484395" y="3434537"/>
            <a:ext cx="746497" cy="627991"/>
          </a:xfrm>
          <a:custGeom>
            <a:avLst/>
            <a:gdLst/>
            <a:ahLst/>
            <a:cxnLst/>
            <a:rect l="l" t="t" r="r" b="b"/>
            <a:pathLst>
              <a:path w="746497" h="627991">
                <a:moveTo>
                  <a:pt x="746497" y="0"/>
                </a:moveTo>
                <a:lnTo>
                  <a:pt x="0" y="0"/>
                </a:lnTo>
                <a:lnTo>
                  <a:pt x="0" y="627991"/>
                </a:lnTo>
                <a:lnTo>
                  <a:pt x="746497" y="627991"/>
                </a:lnTo>
                <a:lnTo>
                  <a:pt x="74649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 rot="-9247649" flipH="1">
            <a:off x="14376517" y="3044519"/>
            <a:ext cx="746497" cy="627991"/>
          </a:xfrm>
          <a:custGeom>
            <a:avLst/>
            <a:gdLst/>
            <a:ahLst/>
            <a:cxnLst/>
            <a:rect l="l" t="t" r="r" b="b"/>
            <a:pathLst>
              <a:path w="746497" h="627991">
                <a:moveTo>
                  <a:pt x="746497" y="0"/>
                </a:moveTo>
                <a:lnTo>
                  <a:pt x="0" y="0"/>
                </a:lnTo>
                <a:lnTo>
                  <a:pt x="0" y="627991"/>
                </a:lnTo>
                <a:lnTo>
                  <a:pt x="746497" y="627991"/>
                </a:lnTo>
                <a:lnTo>
                  <a:pt x="746497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6428132" y="1389908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6" y="0"/>
                </a:lnTo>
                <a:lnTo>
                  <a:pt x="95113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 t="-78900" r="-112980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-638391" y="-63955"/>
            <a:ext cx="3094246" cy="2185311"/>
          </a:xfrm>
          <a:custGeom>
            <a:avLst/>
            <a:gdLst/>
            <a:ahLst/>
            <a:cxnLst/>
            <a:rect l="l" t="t" r="r" b="b"/>
            <a:pathLst>
              <a:path w="3094246" h="2185311">
                <a:moveTo>
                  <a:pt x="0" y="0"/>
                </a:moveTo>
                <a:lnTo>
                  <a:pt x="3094245" y="0"/>
                </a:lnTo>
                <a:lnTo>
                  <a:pt x="3094245" y="2185310"/>
                </a:lnTo>
                <a:lnTo>
                  <a:pt x="0" y="21853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19999"/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908732" y="1389908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6" y="0"/>
                </a:lnTo>
                <a:lnTo>
                  <a:pt x="95113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 t="-78900" r="-112980"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5302250" y="981339"/>
            <a:ext cx="768350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77"/>
              </a:lnSpc>
            </a:pPr>
            <a:r>
              <a:rPr lang="en-US" sz="3480" dirty="0" err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Sistem</a:t>
            </a:r>
            <a:r>
              <a:rPr lang="en-US" sz="3480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480" dirty="0" err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Tasarımı</a:t>
            </a:r>
            <a:r>
              <a:rPr lang="en-US" sz="3480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- </a:t>
            </a:r>
            <a:r>
              <a:rPr lang="en-US" sz="3480" dirty="0" err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Mimari</a:t>
            </a:r>
            <a:r>
              <a:rPr lang="en-US" sz="3480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480" dirty="0" err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</a:t>
            </a:r>
            <a:r>
              <a:rPr lang="en-US" sz="3480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480" dirty="0" err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Teknolojiler</a:t>
            </a:r>
            <a:endParaRPr lang="en-US" sz="3480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97171" y="7312152"/>
            <a:ext cx="3343275" cy="110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81"/>
              </a:lnSpc>
            </a:pPr>
            <a:r>
              <a:rPr lang="en-US" sz="2129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Qt Widgets ile kullanıcı arayüzü, formlar ve görsel bileşenler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478851" y="6876288"/>
            <a:ext cx="3343275" cy="736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81"/>
              </a:lnSpc>
            </a:pPr>
            <a:r>
              <a:rPr lang="en-US" sz="2129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İş mantığı, kullanıcı işlemleri ve ilan yönetimi C++ ile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59069" y="6440424"/>
            <a:ext cx="3343275" cy="110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81"/>
              </a:lnSpc>
            </a:pPr>
            <a:r>
              <a:rPr lang="en-US" sz="2129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Qt SQL modülü ile veritabanı sorguları ve bağlantı yönetimi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640112" y="4474895"/>
            <a:ext cx="3350805" cy="45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99"/>
              </a:lnSpc>
            </a:pPr>
            <a:r>
              <a:rPr lang="en-US" sz="2428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Veri Katmanı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639286" y="6050407"/>
            <a:ext cx="3343275" cy="11079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81"/>
              </a:lnSpc>
            </a:pPr>
            <a:r>
              <a:rPr lang="en-US" sz="2129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SQLite dosya tabanlı veritabanı, sunucu gerektirmez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sp>
        <p:nvSpPr>
          <p:cNvPr id="3" name="Freeform 3"/>
          <p:cNvSpPr/>
          <p:nvPr/>
        </p:nvSpPr>
        <p:spPr>
          <a:xfrm rot="9000000">
            <a:off x="12186762" y="7272569"/>
            <a:ext cx="875249" cy="584229"/>
          </a:xfrm>
          <a:custGeom>
            <a:avLst/>
            <a:gdLst/>
            <a:ahLst/>
            <a:cxnLst/>
            <a:rect l="l" t="t" r="r" b="b"/>
            <a:pathLst>
              <a:path w="875249" h="584229">
                <a:moveTo>
                  <a:pt x="0" y="0"/>
                </a:moveTo>
                <a:lnTo>
                  <a:pt x="875249" y="0"/>
                </a:lnTo>
                <a:lnTo>
                  <a:pt x="875249" y="584228"/>
                </a:lnTo>
                <a:lnTo>
                  <a:pt x="0" y="5842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9000000">
            <a:off x="12186762" y="3754052"/>
            <a:ext cx="875249" cy="584229"/>
          </a:xfrm>
          <a:custGeom>
            <a:avLst/>
            <a:gdLst/>
            <a:ahLst/>
            <a:cxnLst/>
            <a:rect l="l" t="t" r="r" b="b"/>
            <a:pathLst>
              <a:path w="875249" h="584229">
                <a:moveTo>
                  <a:pt x="0" y="0"/>
                </a:moveTo>
                <a:lnTo>
                  <a:pt x="875249" y="0"/>
                </a:lnTo>
                <a:lnTo>
                  <a:pt x="875249" y="584229"/>
                </a:lnTo>
                <a:lnTo>
                  <a:pt x="0" y="5842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799999" flipV="1">
            <a:off x="5225989" y="7272569"/>
            <a:ext cx="875249" cy="584229"/>
          </a:xfrm>
          <a:custGeom>
            <a:avLst/>
            <a:gdLst/>
            <a:ahLst/>
            <a:cxnLst/>
            <a:rect l="l" t="t" r="r" b="b"/>
            <a:pathLst>
              <a:path w="875249" h="584229">
                <a:moveTo>
                  <a:pt x="0" y="584228"/>
                </a:moveTo>
                <a:lnTo>
                  <a:pt x="875249" y="584228"/>
                </a:lnTo>
                <a:lnTo>
                  <a:pt x="875249" y="0"/>
                </a:lnTo>
                <a:lnTo>
                  <a:pt x="0" y="0"/>
                </a:lnTo>
                <a:lnTo>
                  <a:pt x="0" y="5842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800000" flipV="1">
            <a:off x="5225989" y="3754052"/>
            <a:ext cx="875249" cy="584229"/>
          </a:xfrm>
          <a:custGeom>
            <a:avLst/>
            <a:gdLst/>
            <a:ahLst/>
            <a:cxnLst/>
            <a:rect l="l" t="t" r="r" b="b"/>
            <a:pathLst>
              <a:path w="875249" h="584229">
                <a:moveTo>
                  <a:pt x="0" y="584229"/>
                </a:moveTo>
                <a:lnTo>
                  <a:pt x="875249" y="584229"/>
                </a:lnTo>
                <a:lnTo>
                  <a:pt x="875249" y="0"/>
                </a:lnTo>
                <a:lnTo>
                  <a:pt x="0" y="0"/>
                </a:lnTo>
                <a:lnTo>
                  <a:pt x="0" y="5842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5400000">
            <a:off x="7676483" y="-8049545"/>
            <a:ext cx="2935034" cy="18288000"/>
            <a:chOff x="0" y="0"/>
            <a:chExt cx="773013" cy="48165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73013" cy="4816592"/>
            </a:xfrm>
            <a:custGeom>
              <a:avLst/>
              <a:gdLst/>
              <a:ahLst/>
              <a:cxnLst/>
              <a:rect l="l" t="t" r="r" b="b"/>
              <a:pathLst>
                <a:path w="773013" h="4816592">
                  <a:moveTo>
                    <a:pt x="0" y="0"/>
                  </a:moveTo>
                  <a:lnTo>
                    <a:pt x="773013" y="0"/>
                  </a:lnTo>
                  <a:lnTo>
                    <a:pt x="773013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2305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773013" cy="4902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66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9913938"/>
            <a:ext cx="18288000" cy="4927049"/>
          </a:xfrm>
          <a:custGeom>
            <a:avLst/>
            <a:gdLst/>
            <a:ahLst/>
            <a:cxnLst/>
            <a:rect l="l" t="t" r="r" b="b"/>
            <a:pathLst>
              <a:path w="18288000" h="4927049">
                <a:moveTo>
                  <a:pt x="0" y="0"/>
                </a:moveTo>
                <a:lnTo>
                  <a:pt x="18288000" y="0"/>
                </a:lnTo>
                <a:lnTo>
                  <a:pt x="18288000" y="4927049"/>
                </a:lnTo>
                <a:lnTo>
                  <a:pt x="0" y="4927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 t="-196940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681959" y="-1022851"/>
            <a:ext cx="3154683" cy="3563545"/>
          </a:xfrm>
          <a:custGeom>
            <a:avLst/>
            <a:gdLst/>
            <a:ahLst/>
            <a:cxnLst/>
            <a:rect l="l" t="t" r="r" b="b"/>
            <a:pathLst>
              <a:path w="3154683" h="3563545">
                <a:moveTo>
                  <a:pt x="0" y="0"/>
                </a:moveTo>
                <a:lnTo>
                  <a:pt x="3154682" y="0"/>
                </a:lnTo>
                <a:lnTo>
                  <a:pt x="3154682" y="3563545"/>
                </a:lnTo>
                <a:lnTo>
                  <a:pt x="0" y="35635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 b="-35413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28132" y="1389908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6" y="0"/>
                </a:lnTo>
                <a:lnTo>
                  <a:pt x="95113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 t="-78900" r="-1129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08732" y="1389908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6" y="0"/>
                </a:lnTo>
                <a:lnTo>
                  <a:pt x="95113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 t="-78900" r="-112980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598647" y="3574376"/>
            <a:ext cx="5090707" cy="5090707"/>
          </a:xfrm>
          <a:custGeom>
            <a:avLst/>
            <a:gdLst/>
            <a:ahLst/>
            <a:cxnLst/>
            <a:rect l="l" t="t" r="r" b="b"/>
            <a:pathLst>
              <a:path w="5090707" h="5090707">
                <a:moveTo>
                  <a:pt x="0" y="0"/>
                </a:moveTo>
                <a:lnTo>
                  <a:pt x="5090706" y="0"/>
                </a:lnTo>
                <a:lnTo>
                  <a:pt x="5090706" y="5090707"/>
                </a:lnTo>
                <a:lnTo>
                  <a:pt x="0" y="50907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9653412" y="4530340"/>
            <a:ext cx="1324886" cy="878910"/>
          </a:xfrm>
          <a:custGeom>
            <a:avLst/>
            <a:gdLst/>
            <a:ahLst/>
            <a:cxnLst/>
            <a:rect l="l" t="t" r="r" b="b"/>
            <a:pathLst>
              <a:path w="1324886" h="878910">
                <a:moveTo>
                  <a:pt x="0" y="0"/>
                </a:moveTo>
                <a:lnTo>
                  <a:pt x="1324886" y="0"/>
                </a:lnTo>
                <a:lnTo>
                  <a:pt x="1324886" y="878910"/>
                </a:lnTo>
                <a:lnTo>
                  <a:pt x="0" y="87891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7303654" y="6670284"/>
            <a:ext cx="1027223" cy="1042694"/>
          </a:xfrm>
          <a:custGeom>
            <a:avLst/>
            <a:gdLst/>
            <a:ahLst/>
            <a:cxnLst/>
            <a:rect l="l" t="t" r="r" b="b"/>
            <a:pathLst>
              <a:path w="1027223" h="1042694">
                <a:moveTo>
                  <a:pt x="0" y="0"/>
                </a:moveTo>
                <a:lnTo>
                  <a:pt x="1027223" y="0"/>
                </a:lnTo>
                <a:lnTo>
                  <a:pt x="1027223" y="1042694"/>
                </a:lnTo>
                <a:lnTo>
                  <a:pt x="0" y="10426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9579311" y="6638824"/>
            <a:ext cx="1461993" cy="1431407"/>
          </a:xfrm>
          <a:custGeom>
            <a:avLst/>
            <a:gdLst/>
            <a:ahLst/>
            <a:cxnLst/>
            <a:rect l="l" t="t" r="r" b="b"/>
            <a:pathLst>
              <a:path w="1461993" h="1431407">
                <a:moveTo>
                  <a:pt x="0" y="0"/>
                </a:moveTo>
                <a:lnTo>
                  <a:pt x="1461993" y="0"/>
                </a:lnTo>
                <a:lnTo>
                  <a:pt x="1461993" y="1431407"/>
                </a:lnTo>
                <a:lnTo>
                  <a:pt x="0" y="143140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7532691" y="4182778"/>
            <a:ext cx="804108" cy="1254602"/>
          </a:xfrm>
          <a:custGeom>
            <a:avLst/>
            <a:gdLst/>
            <a:ahLst/>
            <a:cxnLst/>
            <a:rect l="l" t="t" r="r" b="b"/>
            <a:pathLst>
              <a:path w="804108" h="1254602">
                <a:moveTo>
                  <a:pt x="0" y="0"/>
                </a:moveTo>
                <a:lnTo>
                  <a:pt x="804108" y="0"/>
                </a:lnTo>
                <a:lnTo>
                  <a:pt x="804108" y="1254602"/>
                </a:lnTo>
                <a:lnTo>
                  <a:pt x="0" y="125460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302250" y="981339"/>
            <a:ext cx="7683500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89"/>
              </a:lnSpc>
            </a:pPr>
            <a:r>
              <a:rPr lang="en-US" sz="5490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Ana </a:t>
            </a:r>
            <a:r>
              <a:rPr lang="en-US" sz="5490" dirty="0" err="1" smtClean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Bileşenler</a:t>
            </a:r>
            <a:r>
              <a:rPr lang="en-US" sz="5490" dirty="0" smtClean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5490" dirty="0" err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ve</a:t>
            </a:r>
            <a:r>
              <a:rPr lang="en-US" sz="5490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5490" dirty="0" err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İletişim</a:t>
            </a:r>
            <a:endParaRPr lang="en-US" sz="5490" dirty="0">
              <a:solidFill>
                <a:srgbClr val="FFFFFF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84300" y="3247772"/>
            <a:ext cx="3425784" cy="1929041"/>
            <a:chOff x="0" y="0"/>
            <a:chExt cx="4567711" cy="2572055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38100"/>
              <a:ext cx="4567711" cy="1032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Kullanıcı</a:t>
              </a:r>
            </a:p>
            <a:p>
              <a:pPr marL="0" lvl="0" indent="0" algn="l">
                <a:lnSpc>
                  <a:spcPts val="2979"/>
                </a:lnSpc>
              </a:pPr>
              <a:r>
                <a:rPr lang="en-US" sz="2128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Sınıfları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328090"/>
              <a:ext cx="4567711" cy="1243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180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Kullanıcı (abstract), Alıcı ve Satıcı sınıfları ile kalıtım yapısı oluşturuldu.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477916" y="3247772"/>
            <a:ext cx="3425784" cy="1614716"/>
            <a:chOff x="0" y="0"/>
            <a:chExt cx="4567711" cy="2152955"/>
          </a:xfrm>
        </p:grpSpPr>
        <p:sp>
          <p:nvSpPr>
            <p:cNvPr id="24" name="TextBox 24"/>
            <p:cNvSpPr txBox="1"/>
            <p:nvPr/>
          </p:nvSpPr>
          <p:spPr>
            <a:xfrm>
              <a:off x="0" y="-38100"/>
              <a:ext cx="4567711" cy="1032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İlan ve Kategori</a:t>
              </a:r>
            </a:p>
            <a:p>
              <a:pPr marL="0" lvl="0" indent="0" algn="l">
                <a:lnSpc>
                  <a:spcPts val="2979"/>
                </a:lnSpc>
              </a:pPr>
              <a:r>
                <a:rPr lang="en-US" sz="2128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Yapısı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1328090"/>
              <a:ext cx="4567711" cy="824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180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İlan, Kategori ve SatinAlma sınıfları ile veri modeli tasarlandı.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84300" y="6489763"/>
            <a:ext cx="3425784" cy="1614716"/>
            <a:chOff x="0" y="0"/>
            <a:chExt cx="4567711" cy="2152955"/>
          </a:xfrm>
        </p:grpSpPr>
        <p:sp>
          <p:nvSpPr>
            <p:cNvPr id="27" name="TextBox 27"/>
            <p:cNvSpPr txBox="1"/>
            <p:nvPr/>
          </p:nvSpPr>
          <p:spPr>
            <a:xfrm>
              <a:off x="0" y="-38100"/>
              <a:ext cx="4567711" cy="1032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DatabaseManager</a:t>
              </a:r>
            </a:p>
            <a:p>
              <a:pPr marL="0" lvl="0" indent="0" algn="l">
                <a:lnSpc>
                  <a:spcPts val="2979"/>
                </a:lnSpc>
              </a:pPr>
              <a:r>
                <a:rPr lang="en-US" sz="2128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Singleton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1328090"/>
              <a:ext cx="4567711" cy="824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180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Tek veritabanı bağlantısı için Singleton tasarım deseni uygulandı.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477916" y="6489763"/>
            <a:ext cx="3425784" cy="1614716"/>
            <a:chOff x="0" y="0"/>
            <a:chExt cx="4567711" cy="2152955"/>
          </a:xfrm>
        </p:grpSpPr>
        <p:sp>
          <p:nvSpPr>
            <p:cNvPr id="30" name="TextBox 30"/>
            <p:cNvSpPr txBox="1"/>
            <p:nvPr/>
          </p:nvSpPr>
          <p:spPr>
            <a:xfrm>
              <a:off x="0" y="-38100"/>
              <a:ext cx="4567711" cy="1032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UML Sınıf</a:t>
              </a:r>
            </a:p>
            <a:p>
              <a:pPr marL="0" lvl="0" indent="0" algn="l">
                <a:lnSpc>
                  <a:spcPts val="2979"/>
                </a:lnSpc>
              </a:pPr>
              <a:r>
                <a:rPr lang="en-US" sz="2128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İlişkileri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1328090"/>
              <a:ext cx="4567711" cy="824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180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Kullanıcı-İlan (1..</a:t>
              </a:r>
              <a:r>
                <a:rPr lang="en-US" sz="1800" i="1">
                  <a:solidFill>
                    <a:srgbClr val="00182E"/>
                  </a:solidFill>
                  <a:latin typeface="Source Sans Pro Italics"/>
                  <a:ea typeface="Source Sans Pro Italics"/>
                  <a:cs typeface="Source Sans Pro Italics"/>
                  <a:sym typeface="Source Sans Pro Italics"/>
                </a:rPr>
                <a:t>), İlan-Kategori (</a:t>
              </a:r>
              <a:r>
                <a:rPr lang="en-US" sz="180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..1), Alıcı-SatınAlma (1..*) ilişkileri.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/>
          <p:cNvGrpSpPr/>
          <p:nvPr/>
        </p:nvGrpSpPr>
        <p:grpSpPr>
          <a:xfrm rot="5400000">
            <a:off x="7676483" y="-8022439"/>
            <a:ext cx="2935034" cy="18288000"/>
            <a:chOff x="0" y="0"/>
            <a:chExt cx="773013" cy="4816593"/>
          </a:xfrm>
        </p:grpSpPr>
        <p:sp>
          <p:nvSpPr>
            <p:cNvPr id="3" name="Freeform 8"/>
            <p:cNvSpPr/>
            <p:nvPr/>
          </p:nvSpPr>
          <p:spPr>
            <a:xfrm>
              <a:off x="0" y="0"/>
              <a:ext cx="773013" cy="4816592"/>
            </a:xfrm>
            <a:custGeom>
              <a:avLst/>
              <a:gdLst/>
              <a:ahLst/>
              <a:cxnLst/>
              <a:rect l="l" t="t" r="r" b="b"/>
              <a:pathLst>
                <a:path w="773013" h="4816592">
                  <a:moveTo>
                    <a:pt x="0" y="0"/>
                  </a:moveTo>
                  <a:lnTo>
                    <a:pt x="773013" y="0"/>
                  </a:lnTo>
                  <a:lnTo>
                    <a:pt x="773013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23059"/>
            </a:solidFill>
          </p:spPr>
        </p:sp>
        <p:sp>
          <p:nvSpPr>
            <p:cNvPr id="4" name="TextBox 9"/>
            <p:cNvSpPr txBox="1"/>
            <p:nvPr/>
          </p:nvSpPr>
          <p:spPr>
            <a:xfrm>
              <a:off x="0" y="-85725"/>
              <a:ext cx="773013" cy="4902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66"/>
                </a:lnSpc>
              </a:pPr>
              <a:endParaRPr/>
            </a:p>
          </p:txBody>
        </p:sp>
      </p:grpSp>
      <p:sp>
        <p:nvSpPr>
          <p:cNvPr id="6" name="Freeform 10"/>
          <p:cNvSpPr/>
          <p:nvPr/>
        </p:nvSpPr>
        <p:spPr>
          <a:xfrm>
            <a:off x="0" y="9913938"/>
            <a:ext cx="18288000" cy="4927049"/>
          </a:xfrm>
          <a:custGeom>
            <a:avLst/>
            <a:gdLst/>
            <a:ahLst/>
            <a:cxnLst/>
            <a:rect l="l" t="t" r="r" b="b"/>
            <a:pathLst>
              <a:path w="18288000" h="4927049">
                <a:moveTo>
                  <a:pt x="0" y="0"/>
                </a:moveTo>
                <a:lnTo>
                  <a:pt x="18288000" y="0"/>
                </a:lnTo>
                <a:lnTo>
                  <a:pt x="18288000" y="4927049"/>
                </a:lnTo>
                <a:lnTo>
                  <a:pt x="0" y="49270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 t="-196940"/>
            </a:stretch>
          </a:blipFill>
        </p:spPr>
      </p:sp>
      <p:sp>
        <p:nvSpPr>
          <p:cNvPr id="7" name="Dikdörtgen 6"/>
          <p:cNvSpPr/>
          <p:nvPr/>
        </p:nvSpPr>
        <p:spPr>
          <a:xfrm>
            <a:off x="3363144" y="899343"/>
            <a:ext cx="118872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6600" dirty="0">
                <a:solidFill>
                  <a:schemeClr val="bg1"/>
                </a:solidFill>
              </a:rPr>
              <a:t>Ana Bileşenler ve Haberleşme</a:t>
            </a:r>
          </a:p>
        </p:txBody>
      </p:sp>
      <p:sp>
        <p:nvSpPr>
          <p:cNvPr id="8" name="Freeform 13"/>
          <p:cNvSpPr/>
          <p:nvPr/>
        </p:nvSpPr>
        <p:spPr>
          <a:xfrm>
            <a:off x="16322911" y="899343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6" y="0"/>
                </a:lnTo>
                <a:lnTo>
                  <a:pt x="95113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 t="-78900" r="-112980"/>
            </a:stretch>
          </a:blipFill>
        </p:spPr>
      </p:sp>
      <p:sp>
        <p:nvSpPr>
          <p:cNvPr id="9" name="Dikdörtgen 8"/>
          <p:cNvSpPr/>
          <p:nvPr/>
        </p:nvSpPr>
        <p:spPr>
          <a:xfrm>
            <a:off x="381000" y="3101171"/>
            <a:ext cx="124968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4000" dirty="0"/>
              <a:t>Sistem 4 katmanlı mimari </a:t>
            </a:r>
            <a:r>
              <a:rPr lang="tr-TR" sz="4000" dirty="0" smtClean="0"/>
              <a:t>ile geliştirildi:</a:t>
            </a:r>
            <a:endParaRPr lang="tr-TR" sz="40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4000" b="1" dirty="0"/>
              <a:t>Sunum Katmanı</a:t>
            </a:r>
            <a:r>
              <a:rPr lang="tr-TR" sz="4000" dirty="0"/>
              <a:t> → Kullanıcı </a:t>
            </a:r>
            <a:r>
              <a:rPr lang="tr-TR" sz="4000" dirty="0" err="1"/>
              <a:t>arayüzü</a:t>
            </a:r>
            <a:r>
              <a:rPr lang="tr-TR" sz="4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4000" b="1" dirty="0"/>
              <a:t>Uygulama Katmanı</a:t>
            </a:r>
            <a:r>
              <a:rPr lang="tr-TR" sz="4000" dirty="0"/>
              <a:t> → İş mantığı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4000" b="1" dirty="0" err="1"/>
              <a:t>Veritabanı</a:t>
            </a:r>
            <a:r>
              <a:rPr lang="tr-TR" sz="4000" b="1" dirty="0"/>
              <a:t> Erişim Katmanı</a:t>
            </a:r>
            <a:r>
              <a:rPr lang="tr-TR" sz="4000" dirty="0"/>
              <a:t> → DAO yapısı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4000" b="1" dirty="0"/>
              <a:t>Veri Katmanı</a:t>
            </a:r>
            <a:r>
              <a:rPr lang="tr-TR" sz="4000" dirty="0"/>
              <a:t> → </a:t>
            </a:r>
            <a:r>
              <a:rPr lang="tr-TR" sz="4000" dirty="0" err="1"/>
              <a:t>SQLite</a:t>
            </a:r>
            <a:r>
              <a:rPr lang="tr-TR" sz="4000" dirty="0"/>
              <a:t> veri yönetimi </a:t>
            </a:r>
          </a:p>
          <a:p>
            <a:endParaRPr lang="tr-TR" sz="4000" b="1" dirty="0" smtClean="0"/>
          </a:p>
          <a:p>
            <a:r>
              <a:rPr lang="tr-TR" sz="4000" b="1" dirty="0" smtClean="0"/>
              <a:t>İletişim </a:t>
            </a:r>
            <a:r>
              <a:rPr lang="tr-TR" sz="4000" b="1" dirty="0"/>
              <a:t>Akışı:</a:t>
            </a:r>
            <a:r>
              <a:rPr lang="tr-TR" sz="4000" dirty="0"/>
              <a:t/>
            </a:r>
            <a:br>
              <a:rPr lang="tr-TR" sz="4000" dirty="0"/>
            </a:br>
            <a:r>
              <a:rPr lang="tr-TR" sz="4000" dirty="0"/>
              <a:t>“Kullanıcı </a:t>
            </a:r>
            <a:r>
              <a:rPr lang="tr-TR" sz="4000" dirty="0" err="1"/>
              <a:t>arayüzünden</a:t>
            </a:r>
            <a:r>
              <a:rPr lang="tr-TR" sz="4000" dirty="0"/>
              <a:t> gelen istekler kontrolcü katmanına aktarılır, burada işlenir ve veri erişim katmanı üzerinden </a:t>
            </a:r>
            <a:r>
              <a:rPr lang="tr-TR" sz="4000" dirty="0" err="1"/>
              <a:t>veritabanı</a:t>
            </a:r>
            <a:r>
              <a:rPr lang="tr-TR" sz="4000" dirty="0"/>
              <a:t> işlemleri gerçekleştirilir.”</a:t>
            </a:r>
          </a:p>
        </p:txBody>
      </p:sp>
    </p:spTree>
    <p:extLst>
      <p:ext uri="{BB962C8B-B14F-4D97-AF65-F5344CB8AC3E}">
        <p14:creationId xmlns:p14="http://schemas.microsoft.com/office/powerpoint/2010/main" val="48289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7"/>
          <p:cNvGrpSpPr/>
          <p:nvPr/>
        </p:nvGrpSpPr>
        <p:grpSpPr>
          <a:xfrm rot="5400000">
            <a:off x="7829550" y="-7829550"/>
            <a:ext cx="2628901" cy="18288003"/>
            <a:chOff x="0" y="0"/>
            <a:chExt cx="773013" cy="4816593"/>
          </a:xfrm>
        </p:grpSpPr>
        <p:sp>
          <p:nvSpPr>
            <p:cNvPr id="4" name="Freeform 8"/>
            <p:cNvSpPr/>
            <p:nvPr/>
          </p:nvSpPr>
          <p:spPr>
            <a:xfrm>
              <a:off x="0" y="0"/>
              <a:ext cx="773013" cy="4816592"/>
            </a:xfrm>
            <a:custGeom>
              <a:avLst/>
              <a:gdLst/>
              <a:ahLst/>
              <a:cxnLst/>
              <a:rect l="l" t="t" r="r" b="b"/>
              <a:pathLst>
                <a:path w="773013" h="4816592">
                  <a:moveTo>
                    <a:pt x="0" y="0"/>
                  </a:moveTo>
                  <a:lnTo>
                    <a:pt x="773013" y="0"/>
                  </a:lnTo>
                  <a:lnTo>
                    <a:pt x="773013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23059"/>
            </a:solidFill>
          </p:spPr>
          <p:txBody>
            <a:bodyPr/>
            <a:lstStyle/>
            <a:p>
              <a:r>
                <a:rPr lang="tr-TR" dirty="0" err="1" smtClean="0"/>
                <a:t>eef</a:t>
              </a:r>
              <a:endParaRPr lang="tr-TR" dirty="0"/>
            </a:p>
          </p:txBody>
        </p:sp>
        <p:sp>
          <p:nvSpPr>
            <p:cNvPr id="5" name="TextBox 9"/>
            <p:cNvSpPr txBox="1"/>
            <p:nvPr/>
          </p:nvSpPr>
          <p:spPr>
            <a:xfrm>
              <a:off x="0" y="-85725"/>
              <a:ext cx="773013" cy="4902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66"/>
                </a:lnSpc>
              </a:pPr>
              <a:endParaRPr/>
            </a:p>
          </p:txBody>
        </p:sp>
      </p:grpSp>
      <p:sp>
        <p:nvSpPr>
          <p:cNvPr id="6" name="Freeform 10"/>
          <p:cNvSpPr/>
          <p:nvPr/>
        </p:nvSpPr>
        <p:spPr>
          <a:xfrm>
            <a:off x="0" y="9944100"/>
            <a:ext cx="18288000" cy="342900"/>
          </a:xfrm>
          <a:custGeom>
            <a:avLst/>
            <a:gdLst/>
            <a:ahLst/>
            <a:cxnLst/>
            <a:rect l="l" t="t" r="r" b="b"/>
            <a:pathLst>
              <a:path w="18288000" h="4927049">
                <a:moveTo>
                  <a:pt x="0" y="0"/>
                </a:moveTo>
                <a:lnTo>
                  <a:pt x="18288000" y="0"/>
                </a:lnTo>
                <a:lnTo>
                  <a:pt x="18288000" y="4927049"/>
                </a:lnTo>
                <a:lnTo>
                  <a:pt x="0" y="49270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 t="-196940"/>
            </a:stretch>
          </a:blipFill>
        </p:spPr>
      </p:sp>
      <p:sp>
        <p:nvSpPr>
          <p:cNvPr id="11" name="Metin kutusu 10"/>
          <p:cNvSpPr txBox="1"/>
          <p:nvPr/>
        </p:nvSpPr>
        <p:spPr>
          <a:xfrm>
            <a:off x="5867400" y="820096"/>
            <a:ext cx="7315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7200" dirty="0" smtClean="0">
                <a:solidFill>
                  <a:schemeClr val="bg1"/>
                </a:solidFill>
              </a:rPr>
              <a:t>UML</a:t>
            </a:r>
            <a:r>
              <a:rPr lang="tr-TR" sz="7200" dirty="0" smtClean="0"/>
              <a:t>  </a:t>
            </a:r>
            <a:r>
              <a:rPr lang="tr-TR" sz="7200" dirty="0" smtClean="0">
                <a:solidFill>
                  <a:schemeClr val="bg1"/>
                </a:solidFill>
              </a:rPr>
              <a:t>DİYAGRAM</a:t>
            </a:r>
            <a:endParaRPr lang="tr-TR" sz="7200" dirty="0">
              <a:solidFill>
                <a:schemeClr val="bg1"/>
              </a:solidFill>
            </a:endParaRPr>
          </a:p>
        </p:txBody>
      </p:sp>
      <p:sp>
        <p:nvSpPr>
          <p:cNvPr id="12" name="Dikdörtgen 11"/>
          <p:cNvSpPr/>
          <p:nvPr/>
        </p:nvSpPr>
        <p:spPr>
          <a:xfrm>
            <a:off x="342900" y="3774750"/>
            <a:ext cx="11049000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800" b="1" dirty="0"/>
              <a:t>Diyagramın </a:t>
            </a:r>
            <a:r>
              <a:rPr lang="tr-TR" sz="2800" b="1" dirty="0" smtClean="0"/>
              <a:t>Amacı:</a:t>
            </a:r>
            <a:endParaRPr lang="tr-TR" sz="2800" b="1" dirty="0"/>
          </a:p>
          <a:p>
            <a:r>
              <a:rPr lang="tr-TR" sz="3200" dirty="0"/>
              <a:t>Bu diyagram, kullanıcının sisteme ilan ekleme sürecinde sistem bileşenleriyle nasıl etkileşim kurduğunu ve işlemlerin hangi sırayla gerçekleştiğini göstermektedir.</a:t>
            </a:r>
          </a:p>
          <a:p>
            <a:endParaRPr lang="tr-TR" sz="2800" dirty="0"/>
          </a:p>
        </p:txBody>
      </p:sp>
      <p:sp>
        <p:nvSpPr>
          <p:cNvPr id="13" name="Dikdörtgen 12"/>
          <p:cNvSpPr/>
          <p:nvPr/>
        </p:nvSpPr>
        <p:spPr>
          <a:xfrm>
            <a:off x="297097" y="5912227"/>
            <a:ext cx="9144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tr-TR" sz="3200" b="1" dirty="0"/>
              <a:t>Diyagram Açıklaması:</a:t>
            </a:r>
            <a:endParaRPr lang="tr-TR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tr-TR" sz="3200" dirty="0"/>
              <a:t>Kullanıcı sisteme yeni ilan ekleme talebinde bulunur.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3200" dirty="0"/>
              <a:t>Sistem ilan ekleme formunu kullanıcıya gösterir.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3200" dirty="0"/>
              <a:t>Kullanıcı gerekli ilan bilgilerini girer ve gönderir.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3200" dirty="0"/>
              <a:t>Sistem bilgileri doğruladıktan sonra </a:t>
            </a:r>
            <a:r>
              <a:rPr lang="tr-TR" sz="3200" dirty="0" err="1"/>
              <a:t>veritabanına</a:t>
            </a:r>
            <a:r>
              <a:rPr lang="tr-TR" sz="3200" dirty="0"/>
              <a:t> kaydeder. </a:t>
            </a:r>
            <a:endParaRPr lang="tr-TR" sz="32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tr-TR" sz="3200" dirty="0" smtClean="0"/>
              <a:t> </a:t>
            </a:r>
            <a:r>
              <a:rPr lang="tr-TR" sz="3200" dirty="0" err="1" smtClean="0"/>
              <a:t>Admin</a:t>
            </a:r>
            <a:r>
              <a:rPr lang="tr-TR" sz="3200" dirty="0" smtClean="0"/>
              <a:t> Eklenen </a:t>
            </a:r>
            <a:r>
              <a:rPr lang="tr-TR" sz="3200" dirty="0"/>
              <a:t>ilanı kontrol eder ve onay sürecini tamamlar.</a:t>
            </a:r>
          </a:p>
        </p:txBody>
      </p:sp>
      <p:sp>
        <p:nvSpPr>
          <p:cNvPr id="14" name="Dikdörtgen 13"/>
          <p:cNvSpPr/>
          <p:nvPr/>
        </p:nvSpPr>
        <p:spPr>
          <a:xfrm>
            <a:off x="5674895" y="2851420"/>
            <a:ext cx="7543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5400" dirty="0" err="1" smtClean="0"/>
              <a:t>Sequence</a:t>
            </a:r>
            <a:r>
              <a:rPr lang="tr-TR" sz="5400" dirty="0" smtClean="0"/>
              <a:t> Diyagramı</a:t>
            </a:r>
            <a:endParaRPr lang="tr-TR" sz="5400" dirty="0"/>
          </a:p>
        </p:txBody>
      </p:sp>
      <p:pic>
        <p:nvPicPr>
          <p:cNvPr id="15" name="Resim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00" y="3977581"/>
            <a:ext cx="6310563" cy="5735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194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461170" y="-3472085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sp>
        <p:nvSpPr>
          <p:cNvPr id="3" name="Freeform 3"/>
          <p:cNvSpPr/>
          <p:nvPr/>
        </p:nvSpPr>
        <p:spPr>
          <a:xfrm rot="10598118">
            <a:off x="12025067" y="6475725"/>
            <a:ext cx="875249" cy="584229"/>
          </a:xfrm>
          <a:custGeom>
            <a:avLst/>
            <a:gdLst/>
            <a:ahLst/>
            <a:cxnLst/>
            <a:rect l="l" t="t" r="r" b="b"/>
            <a:pathLst>
              <a:path w="875249" h="584229">
                <a:moveTo>
                  <a:pt x="0" y="0"/>
                </a:moveTo>
                <a:lnTo>
                  <a:pt x="875249" y="0"/>
                </a:lnTo>
                <a:lnTo>
                  <a:pt x="875249" y="584228"/>
                </a:lnTo>
                <a:lnTo>
                  <a:pt x="0" y="5842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10800000">
            <a:off x="11800425" y="4830244"/>
            <a:ext cx="875249" cy="584229"/>
          </a:xfrm>
          <a:custGeom>
            <a:avLst/>
            <a:gdLst/>
            <a:ahLst/>
            <a:cxnLst/>
            <a:rect l="l" t="t" r="r" b="b"/>
            <a:pathLst>
              <a:path w="875249" h="584229">
                <a:moveTo>
                  <a:pt x="0" y="0"/>
                </a:moveTo>
                <a:lnTo>
                  <a:pt x="875249" y="0"/>
                </a:lnTo>
                <a:lnTo>
                  <a:pt x="875249" y="584229"/>
                </a:lnTo>
                <a:lnTo>
                  <a:pt x="0" y="5842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5227570" y="6411859"/>
            <a:ext cx="875249" cy="584229"/>
          </a:xfrm>
          <a:custGeom>
            <a:avLst/>
            <a:gdLst/>
            <a:ahLst/>
            <a:cxnLst/>
            <a:rect l="l" t="t" r="r" b="b"/>
            <a:pathLst>
              <a:path w="875249" h="584229">
                <a:moveTo>
                  <a:pt x="0" y="584228"/>
                </a:moveTo>
                <a:lnTo>
                  <a:pt x="875249" y="584228"/>
                </a:lnTo>
                <a:lnTo>
                  <a:pt x="875249" y="0"/>
                </a:lnTo>
                <a:lnTo>
                  <a:pt x="0" y="0"/>
                </a:lnTo>
                <a:lnTo>
                  <a:pt x="0" y="5842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06084" flipV="1">
            <a:off x="5438869" y="4610399"/>
            <a:ext cx="875249" cy="584229"/>
          </a:xfrm>
          <a:custGeom>
            <a:avLst/>
            <a:gdLst/>
            <a:ahLst/>
            <a:cxnLst/>
            <a:rect l="l" t="t" r="r" b="b"/>
            <a:pathLst>
              <a:path w="875249" h="584229">
                <a:moveTo>
                  <a:pt x="0" y="584229"/>
                </a:moveTo>
                <a:lnTo>
                  <a:pt x="875249" y="584229"/>
                </a:lnTo>
                <a:lnTo>
                  <a:pt x="875249" y="0"/>
                </a:lnTo>
                <a:lnTo>
                  <a:pt x="0" y="0"/>
                </a:lnTo>
                <a:lnTo>
                  <a:pt x="0" y="5842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5400000">
            <a:off x="7676483" y="-8072612"/>
            <a:ext cx="2935034" cy="18288000"/>
            <a:chOff x="0" y="0"/>
            <a:chExt cx="773013" cy="48165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73013" cy="4816592"/>
            </a:xfrm>
            <a:custGeom>
              <a:avLst/>
              <a:gdLst/>
              <a:ahLst/>
              <a:cxnLst/>
              <a:rect l="l" t="t" r="r" b="b"/>
              <a:pathLst>
                <a:path w="773013" h="4816592">
                  <a:moveTo>
                    <a:pt x="0" y="0"/>
                  </a:moveTo>
                  <a:lnTo>
                    <a:pt x="773013" y="0"/>
                  </a:lnTo>
                  <a:lnTo>
                    <a:pt x="773013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2305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773013" cy="4902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66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9913938"/>
            <a:ext cx="18288000" cy="4927049"/>
          </a:xfrm>
          <a:custGeom>
            <a:avLst/>
            <a:gdLst/>
            <a:ahLst/>
            <a:cxnLst/>
            <a:rect l="l" t="t" r="r" b="b"/>
            <a:pathLst>
              <a:path w="18288000" h="4927049">
                <a:moveTo>
                  <a:pt x="0" y="0"/>
                </a:moveTo>
                <a:lnTo>
                  <a:pt x="18288000" y="0"/>
                </a:lnTo>
                <a:lnTo>
                  <a:pt x="18288000" y="4927049"/>
                </a:lnTo>
                <a:lnTo>
                  <a:pt x="0" y="4927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 t="-196940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681959" y="-1022851"/>
            <a:ext cx="3154683" cy="3563545"/>
          </a:xfrm>
          <a:custGeom>
            <a:avLst/>
            <a:gdLst/>
            <a:ahLst/>
            <a:cxnLst/>
            <a:rect l="l" t="t" r="r" b="b"/>
            <a:pathLst>
              <a:path w="3154683" h="3563545">
                <a:moveTo>
                  <a:pt x="0" y="0"/>
                </a:moveTo>
                <a:lnTo>
                  <a:pt x="3154682" y="0"/>
                </a:lnTo>
                <a:lnTo>
                  <a:pt x="3154682" y="3563545"/>
                </a:lnTo>
                <a:lnTo>
                  <a:pt x="0" y="35635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 b="-35413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28132" y="1389908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6" y="0"/>
                </a:lnTo>
                <a:lnTo>
                  <a:pt x="95113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 t="-78900" r="-1129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08732" y="1389908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6" y="0"/>
                </a:lnTo>
                <a:lnTo>
                  <a:pt x="95113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 t="-78900" r="-112980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547802" y="4211619"/>
            <a:ext cx="5090707" cy="5090707"/>
          </a:xfrm>
          <a:custGeom>
            <a:avLst/>
            <a:gdLst/>
            <a:ahLst/>
            <a:cxnLst/>
            <a:rect l="l" t="t" r="r" b="b"/>
            <a:pathLst>
              <a:path w="5090707" h="5090707">
                <a:moveTo>
                  <a:pt x="0" y="0"/>
                </a:moveTo>
                <a:lnTo>
                  <a:pt x="5090706" y="0"/>
                </a:lnTo>
                <a:lnTo>
                  <a:pt x="5090706" y="5090707"/>
                </a:lnTo>
                <a:lnTo>
                  <a:pt x="0" y="50907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0027650" y="4987099"/>
            <a:ext cx="694947" cy="854748"/>
          </a:xfrm>
          <a:custGeom>
            <a:avLst/>
            <a:gdLst/>
            <a:ahLst/>
            <a:cxnLst/>
            <a:rect l="l" t="t" r="r" b="b"/>
            <a:pathLst>
              <a:path w="694947" h="854748">
                <a:moveTo>
                  <a:pt x="0" y="0"/>
                </a:moveTo>
                <a:lnTo>
                  <a:pt x="694947" y="0"/>
                </a:lnTo>
                <a:lnTo>
                  <a:pt x="694947" y="854748"/>
                </a:lnTo>
                <a:lnTo>
                  <a:pt x="0" y="85474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7432313" y="7530297"/>
            <a:ext cx="846657" cy="846657"/>
          </a:xfrm>
          <a:custGeom>
            <a:avLst/>
            <a:gdLst/>
            <a:ahLst/>
            <a:cxnLst/>
            <a:rect l="l" t="t" r="r" b="b"/>
            <a:pathLst>
              <a:path w="846657" h="846657">
                <a:moveTo>
                  <a:pt x="0" y="0"/>
                </a:moveTo>
                <a:lnTo>
                  <a:pt x="846656" y="0"/>
                </a:lnTo>
                <a:lnTo>
                  <a:pt x="846656" y="846657"/>
                </a:lnTo>
                <a:lnTo>
                  <a:pt x="0" y="84665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9882890" y="7405155"/>
            <a:ext cx="910984" cy="868136"/>
          </a:xfrm>
          <a:custGeom>
            <a:avLst/>
            <a:gdLst/>
            <a:ahLst/>
            <a:cxnLst/>
            <a:rect l="l" t="t" r="r" b="b"/>
            <a:pathLst>
              <a:path w="910984" h="868136">
                <a:moveTo>
                  <a:pt x="0" y="0"/>
                </a:moveTo>
                <a:lnTo>
                  <a:pt x="910984" y="0"/>
                </a:lnTo>
                <a:lnTo>
                  <a:pt x="910984" y="868136"/>
                </a:lnTo>
                <a:lnTo>
                  <a:pt x="0" y="868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7387077" y="4972009"/>
            <a:ext cx="1047396" cy="1068473"/>
          </a:xfrm>
          <a:custGeom>
            <a:avLst/>
            <a:gdLst/>
            <a:ahLst/>
            <a:cxnLst/>
            <a:rect l="l" t="t" r="r" b="b"/>
            <a:pathLst>
              <a:path w="1047396" h="1068473">
                <a:moveTo>
                  <a:pt x="0" y="0"/>
                </a:moveTo>
                <a:lnTo>
                  <a:pt x="1047396" y="0"/>
                </a:lnTo>
                <a:lnTo>
                  <a:pt x="1047396" y="1068473"/>
                </a:lnTo>
                <a:lnTo>
                  <a:pt x="0" y="106847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895600" y="981337"/>
            <a:ext cx="12344400" cy="987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7674"/>
              </a:lnSpc>
            </a:pPr>
            <a:r>
              <a:rPr lang="tr-TR" sz="4800" dirty="0">
                <a:solidFill>
                  <a:schemeClr val="bg1"/>
                </a:solidFill>
              </a:rPr>
              <a:t>Mimari Yaklaşım ve Sağladığı Faydalar</a:t>
            </a:r>
            <a:endParaRPr lang="en-US" sz="4800" dirty="0">
              <a:solidFill>
                <a:schemeClr val="bg1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384300" y="3219197"/>
            <a:ext cx="3425784" cy="1325237"/>
            <a:chOff x="0" y="-38100"/>
            <a:chExt cx="4567711" cy="1766983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38100"/>
              <a:ext cx="4567711" cy="463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endParaRPr lang="en-US" sz="2128" b="1" dirty="0">
                <a:solidFill>
                  <a:srgbClr val="0018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328090"/>
              <a:ext cx="4567711" cy="400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1800" dirty="0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477916" y="3219197"/>
            <a:ext cx="3425784" cy="1325236"/>
            <a:chOff x="0" y="-38100"/>
            <a:chExt cx="4567711" cy="1766982"/>
          </a:xfrm>
        </p:grpSpPr>
        <p:sp>
          <p:nvSpPr>
            <p:cNvPr id="24" name="TextBox 24"/>
            <p:cNvSpPr txBox="1"/>
            <p:nvPr/>
          </p:nvSpPr>
          <p:spPr>
            <a:xfrm>
              <a:off x="0" y="-38100"/>
              <a:ext cx="4567711" cy="463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endParaRPr lang="en-US" sz="2128" b="1" dirty="0">
                <a:solidFill>
                  <a:srgbClr val="0018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1328089"/>
              <a:ext cx="4567711" cy="400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1800" dirty="0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84300" y="6461188"/>
            <a:ext cx="3425784" cy="1325236"/>
            <a:chOff x="0" y="-38100"/>
            <a:chExt cx="4567711" cy="1766980"/>
          </a:xfrm>
        </p:grpSpPr>
        <p:sp>
          <p:nvSpPr>
            <p:cNvPr id="27" name="TextBox 27"/>
            <p:cNvSpPr txBox="1"/>
            <p:nvPr/>
          </p:nvSpPr>
          <p:spPr>
            <a:xfrm>
              <a:off x="0" y="-38100"/>
              <a:ext cx="4567711" cy="463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endParaRPr lang="en-US" sz="2128" b="1" dirty="0">
                <a:solidFill>
                  <a:srgbClr val="0018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1328087"/>
              <a:ext cx="4567711" cy="400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1800" dirty="0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477916" y="6461188"/>
            <a:ext cx="3425784" cy="1325237"/>
            <a:chOff x="0" y="-38100"/>
            <a:chExt cx="4567711" cy="1766983"/>
          </a:xfrm>
        </p:grpSpPr>
        <p:sp>
          <p:nvSpPr>
            <p:cNvPr id="30" name="TextBox 30"/>
            <p:cNvSpPr txBox="1"/>
            <p:nvPr/>
          </p:nvSpPr>
          <p:spPr>
            <a:xfrm>
              <a:off x="0" y="-38100"/>
              <a:ext cx="4567711" cy="463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endParaRPr lang="en-US" sz="2128" b="1" dirty="0">
                <a:solidFill>
                  <a:srgbClr val="00182E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1328090"/>
              <a:ext cx="4567711" cy="4007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endParaRPr lang="en-US" sz="1800" dirty="0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32" name="Metin kutusu 31"/>
          <p:cNvSpPr txBox="1"/>
          <p:nvPr/>
        </p:nvSpPr>
        <p:spPr>
          <a:xfrm>
            <a:off x="13103776" y="8079550"/>
            <a:ext cx="475714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4 Katmanlı Mimari Yapı</a:t>
            </a:r>
          </a:p>
          <a:p>
            <a:r>
              <a:rPr lang="tr-TR" sz="2400" dirty="0"/>
              <a:t>Sistemi sunum, iş mantığı, veri erişim ve veri katmanlarına ayırarak düzenli bir yapı oluşturduk</a:t>
            </a:r>
            <a:r>
              <a:rPr lang="tr-TR" dirty="0"/>
              <a:t>.</a:t>
            </a:r>
          </a:p>
        </p:txBody>
      </p:sp>
      <p:sp>
        <p:nvSpPr>
          <p:cNvPr id="33" name="Metin kutusu 32"/>
          <p:cNvSpPr txBox="1"/>
          <p:nvPr/>
        </p:nvSpPr>
        <p:spPr>
          <a:xfrm>
            <a:off x="13103776" y="6143271"/>
            <a:ext cx="46482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Modülerlik</a:t>
            </a:r>
          </a:p>
          <a:p>
            <a:r>
              <a:rPr lang="tr-TR" sz="2400" dirty="0"/>
              <a:t>Her bileşen bağımsız geliştirilebilir ve güncellenebilir hale geldi</a:t>
            </a:r>
            <a:r>
              <a:rPr lang="tr-TR" dirty="0"/>
              <a:t>.</a:t>
            </a:r>
          </a:p>
        </p:txBody>
      </p:sp>
      <p:sp>
        <p:nvSpPr>
          <p:cNvPr id="34" name="Metin kutusu 33"/>
          <p:cNvSpPr txBox="1"/>
          <p:nvPr/>
        </p:nvSpPr>
        <p:spPr>
          <a:xfrm>
            <a:off x="12981125" y="4136694"/>
            <a:ext cx="5076901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Kolay Bakım ve </a:t>
            </a:r>
            <a:r>
              <a:rPr lang="tr-TR" sz="2800" b="1" dirty="0" err="1"/>
              <a:t>Genişletilebilirlik</a:t>
            </a:r>
            <a:endParaRPr lang="tr-TR" sz="2800" b="1" dirty="0"/>
          </a:p>
          <a:p>
            <a:r>
              <a:rPr lang="tr-TR" sz="2400" dirty="0"/>
              <a:t>Yeni özellikler eklenirken mevcut yapıyı bozmadan geliştirme yapılabilir.</a:t>
            </a:r>
          </a:p>
        </p:txBody>
      </p:sp>
      <p:sp>
        <p:nvSpPr>
          <p:cNvPr id="35" name="Metin kutusu 34"/>
          <p:cNvSpPr txBox="1"/>
          <p:nvPr/>
        </p:nvSpPr>
        <p:spPr>
          <a:xfrm>
            <a:off x="184646" y="5888366"/>
            <a:ext cx="481492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Kod Tekrarının Azaltılması</a:t>
            </a:r>
          </a:p>
          <a:p>
            <a:r>
              <a:rPr lang="tr-TR" sz="2400" dirty="0"/>
              <a:t>Nesne yönelimli tasarım prensipleri ile daha temiz ve sürdürülebilir kod elde edildi.</a:t>
            </a:r>
          </a:p>
        </p:txBody>
      </p:sp>
      <p:sp>
        <p:nvSpPr>
          <p:cNvPr id="36" name="Freeform 5"/>
          <p:cNvSpPr/>
          <p:nvPr/>
        </p:nvSpPr>
        <p:spPr>
          <a:xfrm rot="20575908" flipV="1">
            <a:off x="6222828" y="8588339"/>
            <a:ext cx="875249" cy="584229"/>
          </a:xfrm>
          <a:custGeom>
            <a:avLst/>
            <a:gdLst/>
            <a:ahLst/>
            <a:cxnLst/>
            <a:rect l="l" t="t" r="r" b="b"/>
            <a:pathLst>
              <a:path w="875249" h="584229">
                <a:moveTo>
                  <a:pt x="0" y="584228"/>
                </a:moveTo>
                <a:lnTo>
                  <a:pt x="875249" y="584228"/>
                </a:lnTo>
                <a:lnTo>
                  <a:pt x="875249" y="0"/>
                </a:lnTo>
                <a:lnTo>
                  <a:pt x="0" y="0"/>
                </a:lnTo>
                <a:lnTo>
                  <a:pt x="0" y="5842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7" name="Metin kutusu 36"/>
          <p:cNvSpPr txBox="1"/>
          <p:nvPr/>
        </p:nvSpPr>
        <p:spPr>
          <a:xfrm>
            <a:off x="184646" y="8120818"/>
            <a:ext cx="572573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 smtClean="0"/>
              <a:t>Platform Bağımsız Çalışma</a:t>
            </a:r>
          </a:p>
          <a:p>
            <a:r>
              <a:rPr lang="tr-TR" sz="2400" dirty="0" err="1" smtClean="0"/>
              <a:t>Qt</a:t>
            </a:r>
            <a:r>
              <a:rPr lang="tr-TR" sz="2400" dirty="0" smtClean="0"/>
              <a:t> </a:t>
            </a:r>
            <a:r>
              <a:rPr lang="tr-TR" sz="2400" dirty="0" err="1" smtClean="0"/>
              <a:t>framework</a:t>
            </a:r>
            <a:r>
              <a:rPr lang="tr-TR" sz="2400" dirty="0" smtClean="0"/>
              <a:t> sayesinde uygulama Windows ve Linux ortamlarında sorunsuz çalışmaktadır</a:t>
            </a:r>
            <a:r>
              <a:rPr lang="tr-TR" dirty="0" smtClean="0"/>
              <a:t>.</a:t>
            </a:r>
            <a:endParaRPr lang="tr-TR" dirty="0"/>
          </a:p>
        </p:txBody>
      </p:sp>
      <p:sp>
        <p:nvSpPr>
          <p:cNvPr id="38" name="Freeform 3"/>
          <p:cNvSpPr/>
          <p:nvPr/>
        </p:nvSpPr>
        <p:spPr>
          <a:xfrm rot="11292813">
            <a:off x="11908321" y="8325432"/>
            <a:ext cx="875249" cy="584229"/>
          </a:xfrm>
          <a:custGeom>
            <a:avLst/>
            <a:gdLst/>
            <a:ahLst/>
            <a:cxnLst/>
            <a:rect l="l" t="t" r="r" b="b"/>
            <a:pathLst>
              <a:path w="875249" h="584229">
                <a:moveTo>
                  <a:pt x="0" y="0"/>
                </a:moveTo>
                <a:lnTo>
                  <a:pt x="875249" y="0"/>
                </a:lnTo>
                <a:lnTo>
                  <a:pt x="875249" y="584228"/>
                </a:lnTo>
                <a:lnTo>
                  <a:pt x="0" y="5842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9" name="Metin kutusu 38"/>
          <p:cNvSpPr txBox="1"/>
          <p:nvPr/>
        </p:nvSpPr>
        <p:spPr>
          <a:xfrm>
            <a:off x="238993" y="4014636"/>
            <a:ext cx="47305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b="1" dirty="0"/>
              <a:t>Yüksek Performans</a:t>
            </a:r>
          </a:p>
          <a:p>
            <a:r>
              <a:rPr lang="tr-TR" sz="2400" dirty="0" err="1"/>
              <a:t>SQLite</a:t>
            </a:r>
            <a:r>
              <a:rPr lang="tr-TR" sz="2400" dirty="0"/>
              <a:t> ve optimize edilmiş veri erişimi sayesinde hızlı işlem akışı sağlandı</a:t>
            </a:r>
            <a:r>
              <a:rPr lang="tr-TR" dirty="0"/>
              <a:t>.</a:t>
            </a:r>
          </a:p>
        </p:txBody>
      </p:sp>
      <p:sp>
        <p:nvSpPr>
          <p:cNvPr id="40" name="Metin kutusu 39"/>
          <p:cNvSpPr txBox="1"/>
          <p:nvPr/>
        </p:nvSpPr>
        <p:spPr>
          <a:xfrm>
            <a:off x="5843393" y="9059173"/>
            <a:ext cx="4356597" cy="701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tr-TR" dirty="0"/>
          </a:p>
        </p:txBody>
      </p:sp>
      <p:sp>
        <p:nvSpPr>
          <p:cNvPr id="41" name="Metin kutusu 40"/>
          <p:cNvSpPr txBox="1"/>
          <p:nvPr/>
        </p:nvSpPr>
        <p:spPr>
          <a:xfrm>
            <a:off x="3276600" y="2813794"/>
            <a:ext cx="128720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/>
              <a:t>“Bu mimari yaklaşımı seçmemizin temel nedeni; sistemin sürdürülebilir, performanslı, esnek ve gelecekte geliştirilebilir bir yapıya sahip olmasını sağlamaktı.”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  <p:txBody>
          <a:bodyPr/>
          <a:lstStyle/>
          <a:p>
            <a:r>
              <a:rPr lang="tr-TR" dirty="0" smtClean="0"/>
              <a:t> </a:t>
            </a:r>
            <a:endParaRPr lang="tr-TR" dirty="0"/>
          </a:p>
        </p:txBody>
      </p:sp>
      <p:grpSp>
        <p:nvGrpSpPr>
          <p:cNvPr id="3" name="Group 3"/>
          <p:cNvGrpSpPr/>
          <p:nvPr/>
        </p:nvGrpSpPr>
        <p:grpSpPr>
          <a:xfrm>
            <a:off x="-527619" y="0"/>
            <a:ext cx="14357919" cy="3097942"/>
            <a:chOff x="0" y="0"/>
            <a:chExt cx="3781510" cy="81591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781509" cy="815919"/>
            </a:xfrm>
            <a:custGeom>
              <a:avLst/>
              <a:gdLst/>
              <a:ahLst/>
              <a:cxnLst/>
              <a:rect l="l" t="t" r="r" b="b"/>
              <a:pathLst>
                <a:path w="3781509" h="815919">
                  <a:moveTo>
                    <a:pt x="0" y="0"/>
                  </a:moveTo>
                  <a:lnTo>
                    <a:pt x="3781509" y="0"/>
                  </a:lnTo>
                  <a:lnTo>
                    <a:pt x="3781509" y="815919"/>
                  </a:lnTo>
                  <a:lnTo>
                    <a:pt x="0" y="815919"/>
                  </a:lnTo>
                  <a:close/>
                </a:path>
              </a:pathLst>
            </a:custGeom>
            <a:solidFill>
              <a:srgbClr val="02305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3781510" cy="9111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2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277671" y="1715689"/>
            <a:ext cx="10488829" cy="7966043"/>
            <a:chOff x="0" y="0"/>
            <a:chExt cx="3051545" cy="23175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51545" cy="2317584"/>
            </a:xfrm>
            <a:custGeom>
              <a:avLst/>
              <a:gdLst/>
              <a:ahLst/>
              <a:cxnLst/>
              <a:rect l="l" t="t" r="r" b="b"/>
              <a:pathLst>
                <a:path w="3051545" h="2317584">
                  <a:moveTo>
                    <a:pt x="0" y="0"/>
                  </a:moveTo>
                  <a:lnTo>
                    <a:pt x="3051545" y="0"/>
                  </a:lnTo>
                  <a:lnTo>
                    <a:pt x="3051545" y="2317584"/>
                  </a:lnTo>
                  <a:lnTo>
                    <a:pt x="0" y="2317584"/>
                  </a:lnTo>
                  <a:close/>
                </a:path>
              </a:pathLst>
            </a:custGeom>
            <a:blipFill>
              <a:blip r:embed="rId3"/>
              <a:stretch>
                <a:fillRect l="-716" r="-716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0" y="9913937"/>
            <a:ext cx="18324729" cy="2662401"/>
          </a:xfrm>
          <a:custGeom>
            <a:avLst/>
            <a:gdLst/>
            <a:ahLst/>
            <a:cxnLst/>
            <a:rect l="l" t="t" r="r" b="b"/>
            <a:pathLst>
              <a:path w="18324729" h="2662401">
                <a:moveTo>
                  <a:pt x="0" y="0"/>
                </a:moveTo>
                <a:lnTo>
                  <a:pt x="18324729" y="0"/>
                </a:lnTo>
                <a:lnTo>
                  <a:pt x="18324729" y="2662402"/>
                </a:lnTo>
                <a:lnTo>
                  <a:pt x="0" y="26624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t="-172931" b="-72928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384300" y="1019175"/>
            <a:ext cx="4589053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31"/>
              </a:lnSpc>
            </a:pPr>
            <a:r>
              <a:rPr lang="en-US" sz="585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CANLI DEMO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519590" y="3788067"/>
            <a:ext cx="4131750" cy="4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4"/>
              </a:lnSpc>
            </a:pPr>
            <a:r>
              <a:rPr lang="en-US" sz="2532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Kullanıcı Kayıt ve Giriş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42253" y="3788067"/>
            <a:ext cx="720498" cy="4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4"/>
              </a:lnSpc>
            </a:pPr>
            <a:r>
              <a:rPr lang="en-US" sz="2532" b="1">
                <a:solidFill>
                  <a:srgbClr val="5C8BC3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19590" y="6653356"/>
            <a:ext cx="4033610" cy="9598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924"/>
              </a:lnSpc>
            </a:pPr>
            <a:r>
              <a:rPr lang="tr-TR" sz="2532" dirty="0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Profil ve İlan Yönetimi</a:t>
            </a:r>
            <a:endParaRPr lang="en-US" sz="2532" dirty="0">
              <a:solidFill>
                <a:srgbClr val="00182E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lvl="0">
              <a:lnSpc>
                <a:spcPts val="3924"/>
              </a:lnSpc>
            </a:pPr>
            <a:endParaRPr lang="en-US" sz="2532" dirty="0">
              <a:solidFill>
                <a:srgbClr val="00182E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642253" y="6653356"/>
            <a:ext cx="720498" cy="4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4"/>
              </a:lnSpc>
            </a:pPr>
            <a:r>
              <a:rPr lang="en-US" sz="2532" b="1">
                <a:solidFill>
                  <a:srgbClr val="5C8BC3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05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519590" y="4504389"/>
            <a:ext cx="4131750" cy="4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4"/>
              </a:lnSpc>
            </a:pPr>
            <a:r>
              <a:rPr lang="en-US" sz="2532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İlan Ekleme ve Düzenleme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42253" y="4504389"/>
            <a:ext cx="720498" cy="4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4"/>
              </a:lnSpc>
            </a:pPr>
            <a:r>
              <a:rPr lang="en-US" sz="2532" b="1">
                <a:solidFill>
                  <a:srgbClr val="5C8BC3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19590" y="7369678"/>
            <a:ext cx="4131750" cy="4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4"/>
              </a:lnSpc>
            </a:pPr>
            <a:r>
              <a:rPr lang="en-US" sz="2532" dirty="0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Stok </a:t>
            </a:r>
            <a:r>
              <a:rPr lang="en-US" sz="2532" dirty="0" err="1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Güncelleme</a:t>
            </a:r>
            <a:endParaRPr lang="en-US" sz="2532" dirty="0">
              <a:solidFill>
                <a:srgbClr val="00182E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642253" y="7369678"/>
            <a:ext cx="720498" cy="4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4"/>
              </a:lnSpc>
            </a:pPr>
            <a:r>
              <a:rPr lang="en-US" sz="2532" b="1">
                <a:solidFill>
                  <a:srgbClr val="5C8BC3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06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519590" y="5220711"/>
            <a:ext cx="4131750" cy="4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4"/>
              </a:lnSpc>
            </a:pPr>
            <a:r>
              <a:rPr lang="en-US" sz="2532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Ürün Arama ve Filtreleme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642253" y="5220711"/>
            <a:ext cx="720498" cy="4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4"/>
              </a:lnSpc>
            </a:pPr>
            <a:r>
              <a:rPr lang="en-US" sz="2532" b="1">
                <a:solidFill>
                  <a:srgbClr val="5C8BC3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03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19590" y="8086000"/>
            <a:ext cx="4131750" cy="4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4"/>
              </a:lnSpc>
            </a:pPr>
            <a:r>
              <a:rPr lang="en-US" sz="2532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Edge Case Testleri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642253" y="8086000"/>
            <a:ext cx="720498" cy="4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4"/>
              </a:lnSpc>
            </a:pPr>
            <a:r>
              <a:rPr lang="en-US" sz="2532" b="1">
                <a:solidFill>
                  <a:srgbClr val="5C8BC3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07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519590" y="5937033"/>
            <a:ext cx="4131750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4"/>
              </a:lnSpc>
            </a:pPr>
            <a:r>
              <a:rPr lang="en-US" sz="2532" dirty="0" err="1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İlan</a:t>
            </a:r>
            <a:r>
              <a:rPr lang="en-US" sz="2532" dirty="0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532" dirty="0" err="1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Silme</a:t>
            </a:r>
            <a:r>
              <a:rPr lang="en-US" sz="2532" dirty="0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 </a:t>
            </a:r>
            <a:r>
              <a:rPr lang="en-US" sz="2532" dirty="0" err="1" smtClean="0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İşlemi</a:t>
            </a:r>
            <a:endParaRPr lang="en-US" sz="2532" dirty="0">
              <a:solidFill>
                <a:srgbClr val="00182E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642253" y="5937033"/>
            <a:ext cx="720498" cy="478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24"/>
              </a:lnSpc>
            </a:pPr>
            <a:r>
              <a:rPr lang="en-US" sz="2532" b="1">
                <a:solidFill>
                  <a:srgbClr val="5C8BC3"/>
                </a:solidFill>
                <a:latin typeface="Source Sans Pro Bold"/>
                <a:ea typeface="Source Sans Pro Bold"/>
                <a:cs typeface="Source Sans Pro Bold"/>
                <a:sym typeface="Source Sans Pro Bold"/>
              </a:rPr>
              <a:t>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6629669"/>
            <a:ext cx="18288000" cy="3657331"/>
            <a:chOff x="0" y="0"/>
            <a:chExt cx="4256517" cy="8512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56517" cy="851241"/>
            </a:xfrm>
            <a:custGeom>
              <a:avLst/>
              <a:gdLst/>
              <a:ahLst/>
              <a:cxnLst/>
              <a:rect l="l" t="t" r="r" b="b"/>
              <a:pathLst>
                <a:path w="4256517" h="851241">
                  <a:moveTo>
                    <a:pt x="0" y="0"/>
                  </a:moveTo>
                  <a:lnTo>
                    <a:pt x="4256517" y="0"/>
                  </a:lnTo>
                  <a:lnTo>
                    <a:pt x="4256517" y="851241"/>
                  </a:lnTo>
                  <a:lnTo>
                    <a:pt x="0" y="851241"/>
                  </a:lnTo>
                  <a:close/>
                </a:path>
              </a:pathLst>
            </a:custGeom>
            <a:blipFill>
              <a:blip r:embed="rId3"/>
              <a:stretch>
                <a:fillRect t="-92510" b="-9251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4801003"/>
            <a:ext cx="9067800" cy="3657331"/>
            <a:chOff x="0" y="0"/>
            <a:chExt cx="2388227" cy="9632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8227" cy="963248"/>
            </a:xfrm>
            <a:custGeom>
              <a:avLst/>
              <a:gdLst/>
              <a:ahLst/>
              <a:cxnLst/>
              <a:rect l="l" t="t" r="r" b="b"/>
              <a:pathLst>
                <a:path w="2388227" h="963248">
                  <a:moveTo>
                    <a:pt x="0" y="0"/>
                  </a:moveTo>
                  <a:lnTo>
                    <a:pt x="2388227" y="0"/>
                  </a:lnTo>
                  <a:lnTo>
                    <a:pt x="2388227" y="963248"/>
                  </a:lnTo>
                  <a:lnTo>
                    <a:pt x="0" y="963248"/>
                  </a:lnTo>
                  <a:close/>
                </a:path>
              </a:pathLst>
            </a:custGeom>
            <a:solidFill>
              <a:srgbClr val="5C8B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388227" cy="1058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2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27689" y="1444425"/>
            <a:ext cx="6539802" cy="4247363"/>
            <a:chOff x="0" y="0"/>
            <a:chExt cx="8719736" cy="5663150"/>
          </a:xfrm>
        </p:grpSpPr>
        <p:sp>
          <p:nvSpPr>
            <p:cNvPr id="9" name="Freeform 9"/>
            <p:cNvSpPr/>
            <p:nvPr/>
          </p:nvSpPr>
          <p:spPr>
            <a:xfrm>
              <a:off x="0" y="1230468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302193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5443956" cy="726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25"/>
                </a:lnSpc>
              </a:pPr>
              <a:r>
                <a:rPr lang="en-US" sz="3017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Teknik Zorluklar: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7400" y="1110784"/>
              <a:ext cx="7932336" cy="9661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Çoklu platform desteği sağlamak ve Qt framework ile uyumluluk konusunda çeşitli teknik engeller aşıldı.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7400" y="2902246"/>
              <a:ext cx="7932336" cy="9661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Veritabanı erişim performansı ve eşzamanlılık yönetimi optimizasyon gerektirdi.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4816694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787400" y="4697010"/>
              <a:ext cx="7932336" cy="9661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Kullanıcı dostu arayüz tasarımı ve hata önleme mekanizmalarının entegrasyonu.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0" y="-2475412"/>
            <a:ext cx="18288000" cy="2848475"/>
          </a:xfrm>
          <a:custGeom>
            <a:avLst/>
            <a:gdLst/>
            <a:ahLst/>
            <a:cxnLst/>
            <a:rect l="l" t="t" r="r" b="b"/>
            <a:pathLst>
              <a:path w="18288000" h="2848475">
                <a:moveTo>
                  <a:pt x="0" y="0"/>
                </a:moveTo>
                <a:lnTo>
                  <a:pt x="18288000" y="0"/>
                </a:lnTo>
                <a:lnTo>
                  <a:pt x="18288000" y="2848474"/>
                </a:lnTo>
                <a:lnTo>
                  <a:pt x="0" y="28484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 t="-237867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384300" y="1028700"/>
            <a:ext cx="6299200" cy="3193961"/>
            <a:chOff x="0" y="0"/>
            <a:chExt cx="8398933" cy="4258615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7763139" cy="2600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74"/>
                </a:lnSpc>
              </a:pPr>
              <a:r>
                <a:rPr lang="en-US" sz="6395">
                  <a:solidFill>
                    <a:srgbClr val="00182E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Karşılaşılan Zorluklar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797175"/>
              <a:ext cx="8398933" cy="1461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Geliştirme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sürecinde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çeşitli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teknik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ve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planlama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zorlukları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ile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karşılaşıldı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 Bu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zorluklar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,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projenin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kalitesini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artırmak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için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önemli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öğrenme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fırsatları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 </a:t>
              </a:r>
              <a:r>
                <a:rPr lang="en-US" sz="2128" dirty="0" err="1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sundu</a:t>
              </a:r>
              <a:r>
                <a:rPr lang="en-US" sz="2128" dirty="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84300" y="5686808"/>
            <a:ext cx="6299200" cy="1885814"/>
            <a:chOff x="0" y="0"/>
            <a:chExt cx="8398933" cy="2514419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66675"/>
              <a:ext cx="5443956" cy="726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25"/>
                </a:lnSpc>
              </a:pPr>
              <a:r>
                <a:rPr lang="en-US" sz="3017" b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Tasarım Zorlukları: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052980"/>
              <a:ext cx="8398933" cy="14614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OOP prensiplerini proje kapsamına uygun şekilde uygulama ve kod kalitesini koruma konusunda deneyim kazanıldı.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8592232" y="7572530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6" y="0"/>
                </a:lnTo>
                <a:lnTo>
                  <a:pt x="95113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 t="-78900" r="-112980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6629669"/>
            <a:ext cx="18288000" cy="3657331"/>
            <a:chOff x="0" y="0"/>
            <a:chExt cx="4256517" cy="85124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56517" cy="851241"/>
            </a:xfrm>
            <a:custGeom>
              <a:avLst/>
              <a:gdLst/>
              <a:ahLst/>
              <a:cxnLst/>
              <a:rect l="l" t="t" r="r" b="b"/>
              <a:pathLst>
                <a:path w="4256517" h="851241">
                  <a:moveTo>
                    <a:pt x="0" y="0"/>
                  </a:moveTo>
                  <a:lnTo>
                    <a:pt x="4256517" y="0"/>
                  </a:lnTo>
                  <a:lnTo>
                    <a:pt x="4256517" y="851241"/>
                  </a:lnTo>
                  <a:lnTo>
                    <a:pt x="0" y="851241"/>
                  </a:lnTo>
                  <a:close/>
                </a:path>
              </a:pathLst>
            </a:custGeom>
            <a:blipFill>
              <a:blip r:embed="rId3"/>
              <a:stretch>
                <a:fillRect t="-92510" b="-92510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0" y="4801003"/>
            <a:ext cx="9067800" cy="3657331"/>
            <a:chOff x="0" y="0"/>
            <a:chExt cx="2388227" cy="9632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88227" cy="963248"/>
            </a:xfrm>
            <a:custGeom>
              <a:avLst/>
              <a:gdLst/>
              <a:ahLst/>
              <a:cxnLst/>
              <a:rect l="l" t="t" r="r" b="b"/>
              <a:pathLst>
                <a:path w="2388227" h="963248">
                  <a:moveTo>
                    <a:pt x="0" y="0"/>
                  </a:moveTo>
                  <a:lnTo>
                    <a:pt x="2388227" y="0"/>
                  </a:lnTo>
                  <a:lnTo>
                    <a:pt x="2388227" y="963248"/>
                  </a:lnTo>
                  <a:lnTo>
                    <a:pt x="0" y="963248"/>
                  </a:lnTo>
                  <a:close/>
                </a:path>
              </a:pathLst>
            </a:custGeom>
            <a:solidFill>
              <a:srgbClr val="5C8BC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2388227" cy="1058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27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27689" y="1444425"/>
            <a:ext cx="6539802" cy="4247325"/>
            <a:chOff x="0" y="0"/>
            <a:chExt cx="8719736" cy="5663099"/>
          </a:xfrm>
        </p:grpSpPr>
        <p:sp>
          <p:nvSpPr>
            <p:cNvPr id="9" name="Freeform 9"/>
            <p:cNvSpPr/>
            <p:nvPr/>
          </p:nvSpPr>
          <p:spPr>
            <a:xfrm>
              <a:off x="0" y="1230468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0" y="3021930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5443956" cy="726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25"/>
                </a:lnSpc>
              </a:pPr>
              <a:r>
                <a:rPr lang="en-US" sz="3017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Temel Kazanımlar: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7400" y="1110784"/>
              <a:ext cx="7932336" cy="966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81"/>
                </a:lnSpc>
              </a:pPr>
              <a:r>
                <a:rPr lang="en-US" sz="2129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4 katmanlı mimari ile modülerlik sağlandı, bileşenler bağımsız olarak geliştirilebilir hale geldi.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7400" y="2902246"/>
              <a:ext cx="7932336" cy="966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81"/>
                </a:lnSpc>
              </a:pPr>
              <a:r>
                <a:rPr lang="en-US" sz="2129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SQLite ile performans artırıldı, bağlantı yönetimi optimize edildi ve sunucu ihtiyacı ortadan kalktı.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4816694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0" y="0"/>
                  </a:moveTo>
                  <a:lnTo>
                    <a:pt x="406400" y="0"/>
                  </a:lnTo>
                  <a:lnTo>
                    <a:pt x="406400" y="406400"/>
                  </a:lnTo>
                  <a:lnTo>
                    <a:pt x="0" y="406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=""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787400" y="4697010"/>
              <a:ext cx="7932336" cy="966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81"/>
                </a:lnSpc>
              </a:pPr>
              <a:r>
                <a:rPr lang="en-US" sz="2129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Tasarım desenleri (Singleton, Observer, Strategy) ile kod tekrarları ve karmaşıklık azaltıldı.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0" y="-2475412"/>
            <a:ext cx="18288000" cy="2848475"/>
          </a:xfrm>
          <a:custGeom>
            <a:avLst/>
            <a:gdLst/>
            <a:ahLst/>
            <a:cxnLst/>
            <a:rect l="l" t="t" r="r" b="b"/>
            <a:pathLst>
              <a:path w="18288000" h="2848475">
                <a:moveTo>
                  <a:pt x="0" y="0"/>
                </a:moveTo>
                <a:lnTo>
                  <a:pt x="18288000" y="0"/>
                </a:lnTo>
                <a:lnTo>
                  <a:pt x="18288000" y="2848474"/>
                </a:lnTo>
                <a:lnTo>
                  <a:pt x="0" y="28484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 t="-237867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384300" y="1028700"/>
            <a:ext cx="6299200" cy="3193923"/>
            <a:chOff x="0" y="0"/>
            <a:chExt cx="8398933" cy="4258564"/>
          </a:xfrm>
        </p:grpSpPr>
        <p:sp>
          <p:nvSpPr>
            <p:cNvPr id="18" name="TextBox 18"/>
            <p:cNvSpPr txBox="1"/>
            <p:nvPr/>
          </p:nvSpPr>
          <p:spPr>
            <a:xfrm>
              <a:off x="0" y="-9525"/>
              <a:ext cx="7763139" cy="2600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674"/>
                </a:lnSpc>
              </a:pPr>
              <a:r>
                <a:rPr lang="en-US" sz="6395">
                  <a:solidFill>
                    <a:srgbClr val="00182E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Çözümler ve Öğrenilenler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2797175"/>
              <a:ext cx="8398933" cy="1461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81"/>
                </a:lnSpc>
              </a:pPr>
              <a:r>
                <a:rPr lang="en-US" sz="2129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Geliştirme sürecinde karşılaşılan zorluklara getirilen çözümler ve bu süreçte edinilen teknik kazanımlar aşağıda özetlenmiştir.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84300" y="5686808"/>
            <a:ext cx="6299200" cy="1514301"/>
            <a:chOff x="0" y="0"/>
            <a:chExt cx="8398933" cy="2019068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66675"/>
              <a:ext cx="5443956" cy="726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25"/>
                </a:lnSpc>
              </a:pPr>
              <a:r>
                <a:rPr lang="en-US" sz="3017" b="1">
                  <a:solidFill>
                    <a:srgbClr val="FFFFFF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Teknik Başarılar: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052980"/>
              <a:ext cx="8398933" cy="9660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82"/>
                </a:lnSpc>
              </a:pPr>
              <a:r>
                <a:rPr lang="en-US" sz="2130">
                  <a:solidFill>
                    <a:srgbClr val="FFFFFF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Qt sinyal-slot mekanizması ile olay güdümlü kontrol sağlandı. OOP prensipleri etkin şekilde uygulandı.</a:t>
              </a:r>
            </a:p>
          </p:txBody>
        </p:sp>
      </p:grpSp>
      <p:sp>
        <p:nvSpPr>
          <p:cNvPr id="23" name="Freeform 23"/>
          <p:cNvSpPr/>
          <p:nvPr/>
        </p:nvSpPr>
        <p:spPr>
          <a:xfrm>
            <a:off x="8592232" y="7572530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6" y="0"/>
                </a:lnTo>
                <a:lnTo>
                  <a:pt x="95113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 t="-78900" r="-112980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5241747"/>
            <a:ext cx="18288000" cy="5140503"/>
            <a:chOff x="0" y="0"/>
            <a:chExt cx="4816593" cy="13538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353877"/>
            </a:xfrm>
            <a:custGeom>
              <a:avLst/>
              <a:gdLst/>
              <a:ahLst/>
              <a:cxnLst/>
              <a:rect l="l" t="t" r="r" b="b"/>
              <a:pathLst>
                <a:path w="4816592" h="1353877">
                  <a:moveTo>
                    <a:pt x="0" y="0"/>
                  </a:moveTo>
                  <a:lnTo>
                    <a:pt x="4816592" y="0"/>
                  </a:lnTo>
                  <a:lnTo>
                    <a:pt x="4816592" y="1353877"/>
                  </a:lnTo>
                  <a:lnTo>
                    <a:pt x="0" y="1353877"/>
                  </a:lnTo>
                  <a:close/>
                </a:path>
              </a:pathLst>
            </a:custGeom>
            <a:solidFill>
              <a:srgbClr val="02305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4816593" cy="1449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27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84300" y="3914069"/>
            <a:ext cx="4610100" cy="1899491"/>
            <a:chOff x="0" y="0"/>
            <a:chExt cx="1214183" cy="50027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4183" cy="500278"/>
            </a:xfrm>
            <a:custGeom>
              <a:avLst/>
              <a:gdLst/>
              <a:ahLst/>
              <a:cxnLst/>
              <a:rect l="l" t="t" r="r" b="b"/>
              <a:pathLst>
                <a:path w="1214183" h="500278">
                  <a:moveTo>
                    <a:pt x="0" y="0"/>
                  </a:moveTo>
                  <a:lnTo>
                    <a:pt x="1214183" y="0"/>
                  </a:lnTo>
                  <a:lnTo>
                    <a:pt x="1214183" y="500278"/>
                  </a:lnTo>
                  <a:lnTo>
                    <a:pt x="0" y="500278"/>
                  </a:lnTo>
                  <a:close/>
                </a:path>
              </a:pathLst>
            </a:custGeom>
            <a:solidFill>
              <a:srgbClr val="5C8BC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1214183" cy="595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2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838950" y="3914069"/>
            <a:ext cx="4610100" cy="1899491"/>
            <a:chOff x="0" y="0"/>
            <a:chExt cx="1214183" cy="5002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14183" cy="500278"/>
            </a:xfrm>
            <a:custGeom>
              <a:avLst/>
              <a:gdLst/>
              <a:ahLst/>
              <a:cxnLst/>
              <a:rect l="l" t="t" r="r" b="b"/>
              <a:pathLst>
                <a:path w="1214183" h="500278">
                  <a:moveTo>
                    <a:pt x="0" y="0"/>
                  </a:moveTo>
                  <a:lnTo>
                    <a:pt x="1214183" y="0"/>
                  </a:lnTo>
                  <a:lnTo>
                    <a:pt x="1214183" y="500278"/>
                  </a:lnTo>
                  <a:lnTo>
                    <a:pt x="0" y="500278"/>
                  </a:lnTo>
                  <a:close/>
                </a:path>
              </a:pathLst>
            </a:custGeom>
            <a:solidFill>
              <a:srgbClr val="5C8BC3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95250"/>
              <a:ext cx="1214183" cy="595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27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293600" y="3914069"/>
            <a:ext cx="4610100" cy="1899491"/>
            <a:chOff x="0" y="0"/>
            <a:chExt cx="1214183" cy="50027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4183" cy="500278"/>
            </a:xfrm>
            <a:custGeom>
              <a:avLst/>
              <a:gdLst/>
              <a:ahLst/>
              <a:cxnLst/>
              <a:rect l="l" t="t" r="r" b="b"/>
              <a:pathLst>
                <a:path w="1214183" h="500278">
                  <a:moveTo>
                    <a:pt x="0" y="0"/>
                  </a:moveTo>
                  <a:lnTo>
                    <a:pt x="1214183" y="0"/>
                  </a:lnTo>
                  <a:lnTo>
                    <a:pt x="1214183" y="500278"/>
                  </a:lnTo>
                  <a:lnTo>
                    <a:pt x="0" y="500278"/>
                  </a:lnTo>
                  <a:close/>
                </a:path>
              </a:pathLst>
            </a:custGeom>
            <a:solidFill>
              <a:srgbClr val="5C8BC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0"/>
              <a:ext cx="1214183" cy="595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27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0" y="-2475412"/>
            <a:ext cx="18288000" cy="2848475"/>
          </a:xfrm>
          <a:custGeom>
            <a:avLst/>
            <a:gdLst/>
            <a:ahLst/>
            <a:cxnLst/>
            <a:rect l="l" t="t" r="r" b="b"/>
            <a:pathLst>
              <a:path w="18288000" h="2848475">
                <a:moveTo>
                  <a:pt x="0" y="0"/>
                </a:moveTo>
                <a:lnTo>
                  <a:pt x="18288000" y="0"/>
                </a:lnTo>
                <a:lnTo>
                  <a:pt x="18288000" y="2848474"/>
                </a:lnTo>
                <a:lnTo>
                  <a:pt x="0" y="28484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t="-237867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907586" y="8199719"/>
            <a:ext cx="4741202" cy="2056496"/>
          </a:xfrm>
          <a:custGeom>
            <a:avLst/>
            <a:gdLst/>
            <a:ahLst/>
            <a:cxnLst/>
            <a:rect l="l" t="t" r="r" b="b"/>
            <a:pathLst>
              <a:path w="4741202" h="2056496">
                <a:moveTo>
                  <a:pt x="0" y="0"/>
                </a:moveTo>
                <a:lnTo>
                  <a:pt x="4741201" y="0"/>
                </a:lnTo>
                <a:lnTo>
                  <a:pt x="4741201" y="2056496"/>
                </a:lnTo>
                <a:lnTo>
                  <a:pt x="0" y="20564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19999"/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605932" y="9258300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6" y="0"/>
                </a:lnTo>
                <a:lnTo>
                  <a:pt x="95113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 t="-78900" r="-112980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384300" y="1019175"/>
            <a:ext cx="6664564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79"/>
              </a:lnSpc>
            </a:pPr>
            <a:r>
              <a:rPr lang="en-US" sz="6399">
                <a:solidFill>
                  <a:srgbClr val="00182E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Sonuç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067800" y="1422463"/>
            <a:ext cx="7210386" cy="1107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79"/>
              </a:lnSpc>
            </a:pPr>
            <a:r>
              <a:rPr lang="en-US" sz="2128">
                <a:solidFill>
                  <a:srgbClr val="00182E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Projemiz başarıyla tamamlandı ve tüm temel hedeflerimize ulaşıldı. İkinci el alım satım platformumuz kullanıma hazır durumda.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246935" y="4353020"/>
            <a:ext cx="2884831" cy="964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41"/>
              </a:lnSpc>
            </a:pPr>
            <a:r>
              <a:rPr lang="en-US" sz="252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Çalışan Platform Başarısı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01585" y="4353020"/>
            <a:ext cx="2884831" cy="964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41"/>
              </a:lnSpc>
            </a:pPr>
            <a:r>
              <a:rPr lang="en-US" sz="252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Güvenlik ve Erişim Kontrolü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678373" y="6547011"/>
            <a:ext cx="4021953" cy="1652784"/>
            <a:chOff x="0" y="0"/>
            <a:chExt cx="5362604" cy="2203711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47625"/>
              <a:ext cx="5362604" cy="1108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99"/>
                </a:lnSpc>
              </a:pPr>
              <a:r>
                <a:rPr lang="en-US" sz="2428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Kullanıcı dostu, temel işlevleri eksiksiz çalışan platform.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1328003"/>
              <a:ext cx="5362604" cy="87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18"/>
                </a:lnSpc>
              </a:pPr>
              <a:r>
                <a:rPr lang="en-US" sz="1798" i="1">
                  <a:solidFill>
                    <a:srgbClr val="FFFFFF"/>
                  </a:solidFill>
                  <a:latin typeface="Helvetica World Italics"/>
                  <a:ea typeface="Helvetica World Italics"/>
                  <a:cs typeface="Helvetica World Italics"/>
                  <a:sym typeface="Helvetica World Italics"/>
                </a:rPr>
                <a:t>Kolay ilan oluşturma, arama ve satın alma özellikleri.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133023" y="6547011"/>
            <a:ext cx="4021953" cy="1652784"/>
            <a:chOff x="0" y="0"/>
            <a:chExt cx="5362604" cy="2203711"/>
          </a:xfrm>
        </p:grpSpPr>
        <p:sp>
          <p:nvSpPr>
            <p:cNvPr id="26" name="TextBox 26"/>
            <p:cNvSpPr txBox="1"/>
            <p:nvPr/>
          </p:nvSpPr>
          <p:spPr>
            <a:xfrm>
              <a:off x="0" y="-47625"/>
              <a:ext cx="5362604" cy="1108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99"/>
                </a:lnSpc>
              </a:pPr>
              <a:r>
                <a:rPr lang="en-US" sz="2428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Rol bazlı yetkilendirme başarıyla uygulandı.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1328003"/>
              <a:ext cx="5362604" cy="87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18"/>
                </a:lnSpc>
              </a:pPr>
              <a:r>
                <a:rPr lang="en-US" sz="1798" i="1">
                  <a:solidFill>
                    <a:srgbClr val="FFFFFF"/>
                  </a:solidFill>
                  <a:latin typeface="Helvetica World Italics"/>
                  <a:ea typeface="Helvetica World Italics"/>
                  <a:cs typeface="Helvetica World Italics"/>
                  <a:sym typeface="Helvetica World Italics"/>
                </a:rPr>
                <a:t>Kriptografik şifreleme ile veri güvenliği sağlandı.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3156235" y="4353020"/>
            <a:ext cx="2884831" cy="964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41"/>
              </a:lnSpc>
            </a:pPr>
            <a:r>
              <a:rPr lang="en-US" sz="2529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Modüler Mimari ve Platform Desteği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2583727" y="6547011"/>
            <a:ext cx="4068560" cy="1652784"/>
            <a:chOff x="0" y="0"/>
            <a:chExt cx="5424746" cy="2203711"/>
          </a:xfrm>
        </p:grpSpPr>
        <p:sp>
          <p:nvSpPr>
            <p:cNvPr id="30" name="TextBox 30"/>
            <p:cNvSpPr txBox="1"/>
            <p:nvPr/>
          </p:nvSpPr>
          <p:spPr>
            <a:xfrm>
              <a:off x="0" y="-47625"/>
              <a:ext cx="5424746" cy="11083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99"/>
                </a:lnSpc>
              </a:pPr>
              <a:r>
                <a:rPr lang="en-US" sz="2428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4 katmanlı mimari ile bakımı kolay yapı.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1328003"/>
              <a:ext cx="5424746" cy="87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518"/>
                </a:lnSpc>
              </a:pPr>
              <a:r>
                <a:rPr lang="en-US" sz="1798" i="1">
                  <a:solidFill>
                    <a:srgbClr val="FFFFFF"/>
                  </a:solidFill>
                  <a:latin typeface="Helvetica World Italics"/>
                  <a:ea typeface="Helvetica World Italics"/>
                  <a:cs typeface="Helvetica World Italics"/>
                  <a:sym typeface="Helvetica World Italics"/>
                </a:rPr>
                <a:t>Windows ve Linux platformlarında sorunsuz çalışma.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sp>
        <p:nvSpPr>
          <p:cNvPr id="3" name="Freeform 3"/>
          <p:cNvSpPr/>
          <p:nvPr/>
        </p:nvSpPr>
        <p:spPr>
          <a:xfrm rot="9000000">
            <a:off x="12186762" y="7272569"/>
            <a:ext cx="875249" cy="584229"/>
          </a:xfrm>
          <a:custGeom>
            <a:avLst/>
            <a:gdLst/>
            <a:ahLst/>
            <a:cxnLst/>
            <a:rect l="l" t="t" r="r" b="b"/>
            <a:pathLst>
              <a:path w="875249" h="584229">
                <a:moveTo>
                  <a:pt x="0" y="0"/>
                </a:moveTo>
                <a:lnTo>
                  <a:pt x="875249" y="0"/>
                </a:lnTo>
                <a:lnTo>
                  <a:pt x="875249" y="584228"/>
                </a:lnTo>
                <a:lnTo>
                  <a:pt x="0" y="58422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9000000">
            <a:off x="12186762" y="3754052"/>
            <a:ext cx="875249" cy="584229"/>
          </a:xfrm>
          <a:custGeom>
            <a:avLst/>
            <a:gdLst/>
            <a:ahLst/>
            <a:cxnLst/>
            <a:rect l="l" t="t" r="r" b="b"/>
            <a:pathLst>
              <a:path w="875249" h="584229">
                <a:moveTo>
                  <a:pt x="0" y="0"/>
                </a:moveTo>
                <a:lnTo>
                  <a:pt x="875249" y="0"/>
                </a:lnTo>
                <a:lnTo>
                  <a:pt x="875249" y="584229"/>
                </a:lnTo>
                <a:lnTo>
                  <a:pt x="0" y="5842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799999" flipV="1">
            <a:off x="5225989" y="7272569"/>
            <a:ext cx="875249" cy="584229"/>
          </a:xfrm>
          <a:custGeom>
            <a:avLst/>
            <a:gdLst/>
            <a:ahLst/>
            <a:cxnLst/>
            <a:rect l="l" t="t" r="r" b="b"/>
            <a:pathLst>
              <a:path w="875249" h="584229">
                <a:moveTo>
                  <a:pt x="0" y="584228"/>
                </a:moveTo>
                <a:lnTo>
                  <a:pt x="875249" y="584228"/>
                </a:lnTo>
                <a:lnTo>
                  <a:pt x="875249" y="0"/>
                </a:lnTo>
                <a:lnTo>
                  <a:pt x="0" y="0"/>
                </a:lnTo>
                <a:lnTo>
                  <a:pt x="0" y="584228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1800000" flipV="1">
            <a:off x="5225989" y="3754052"/>
            <a:ext cx="875249" cy="584229"/>
          </a:xfrm>
          <a:custGeom>
            <a:avLst/>
            <a:gdLst/>
            <a:ahLst/>
            <a:cxnLst/>
            <a:rect l="l" t="t" r="r" b="b"/>
            <a:pathLst>
              <a:path w="875249" h="584229">
                <a:moveTo>
                  <a:pt x="0" y="584229"/>
                </a:moveTo>
                <a:lnTo>
                  <a:pt x="875249" y="584229"/>
                </a:lnTo>
                <a:lnTo>
                  <a:pt x="875249" y="0"/>
                </a:lnTo>
                <a:lnTo>
                  <a:pt x="0" y="0"/>
                </a:lnTo>
                <a:lnTo>
                  <a:pt x="0" y="5842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 rot="5400000">
            <a:off x="7676483" y="-8049545"/>
            <a:ext cx="2935034" cy="18288000"/>
            <a:chOff x="0" y="0"/>
            <a:chExt cx="773013" cy="48165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73013" cy="4816592"/>
            </a:xfrm>
            <a:custGeom>
              <a:avLst/>
              <a:gdLst/>
              <a:ahLst/>
              <a:cxnLst/>
              <a:rect l="l" t="t" r="r" b="b"/>
              <a:pathLst>
                <a:path w="773013" h="4816592">
                  <a:moveTo>
                    <a:pt x="0" y="0"/>
                  </a:moveTo>
                  <a:lnTo>
                    <a:pt x="773013" y="0"/>
                  </a:lnTo>
                  <a:lnTo>
                    <a:pt x="773013" y="4816592"/>
                  </a:lnTo>
                  <a:lnTo>
                    <a:pt x="0" y="4816592"/>
                  </a:lnTo>
                  <a:close/>
                </a:path>
              </a:pathLst>
            </a:custGeom>
            <a:solidFill>
              <a:srgbClr val="02305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773013" cy="4902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66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0" y="9913938"/>
            <a:ext cx="18288000" cy="4927049"/>
          </a:xfrm>
          <a:custGeom>
            <a:avLst/>
            <a:gdLst/>
            <a:ahLst/>
            <a:cxnLst/>
            <a:rect l="l" t="t" r="r" b="b"/>
            <a:pathLst>
              <a:path w="18288000" h="4927049">
                <a:moveTo>
                  <a:pt x="0" y="0"/>
                </a:moveTo>
                <a:lnTo>
                  <a:pt x="18288000" y="0"/>
                </a:lnTo>
                <a:lnTo>
                  <a:pt x="18288000" y="4927049"/>
                </a:lnTo>
                <a:lnTo>
                  <a:pt x="0" y="49270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="" xmlns:asvg="http://schemas.microsoft.com/office/drawing/2016/SVG/main" r:embed="rId6"/>
                </a:ext>
              </a:extLst>
            </a:blip>
            <a:stretch>
              <a:fillRect t="-196940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681959" y="-1022851"/>
            <a:ext cx="3154683" cy="3563545"/>
          </a:xfrm>
          <a:custGeom>
            <a:avLst/>
            <a:gdLst/>
            <a:ahLst/>
            <a:cxnLst/>
            <a:rect l="l" t="t" r="r" b="b"/>
            <a:pathLst>
              <a:path w="3154683" h="3563545">
                <a:moveTo>
                  <a:pt x="0" y="0"/>
                </a:moveTo>
                <a:lnTo>
                  <a:pt x="3154682" y="0"/>
                </a:lnTo>
                <a:lnTo>
                  <a:pt x="3154682" y="3563545"/>
                </a:lnTo>
                <a:lnTo>
                  <a:pt x="0" y="35635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 b="-35413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6428132" y="1389908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6" y="0"/>
                </a:lnTo>
                <a:lnTo>
                  <a:pt x="95113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 t="-78900" r="-11298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908732" y="1389908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6" y="0"/>
                </a:lnTo>
                <a:lnTo>
                  <a:pt x="95113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 t="-78900" r="-112980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598647" y="3574376"/>
            <a:ext cx="5090707" cy="5090707"/>
          </a:xfrm>
          <a:custGeom>
            <a:avLst/>
            <a:gdLst/>
            <a:ahLst/>
            <a:cxnLst/>
            <a:rect l="l" t="t" r="r" b="b"/>
            <a:pathLst>
              <a:path w="5090707" h="5090707">
                <a:moveTo>
                  <a:pt x="0" y="0"/>
                </a:moveTo>
                <a:lnTo>
                  <a:pt x="5090706" y="0"/>
                </a:lnTo>
                <a:lnTo>
                  <a:pt x="5090706" y="5090707"/>
                </a:lnTo>
                <a:lnTo>
                  <a:pt x="0" y="509070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10024691" y="4508604"/>
            <a:ext cx="578517" cy="1018494"/>
          </a:xfrm>
          <a:custGeom>
            <a:avLst/>
            <a:gdLst/>
            <a:ahLst/>
            <a:cxnLst/>
            <a:rect l="l" t="t" r="r" b="b"/>
            <a:pathLst>
              <a:path w="578517" h="1018494">
                <a:moveTo>
                  <a:pt x="0" y="0"/>
                </a:moveTo>
                <a:lnTo>
                  <a:pt x="578517" y="0"/>
                </a:lnTo>
                <a:lnTo>
                  <a:pt x="578517" y="1018494"/>
                </a:lnTo>
                <a:lnTo>
                  <a:pt x="0" y="101849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6" name="Freeform 16"/>
          <p:cNvSpPr/>
          <p:nvPr/>
        </p:nvSpPr>
        <p:spPr>
          <a:xfrm>
            <a:off x="7243052" y="6602102"/>
            <a:ext cx="1139806" cy="1089815"/>
          </a:xfrm>
          <a:custGeom>
            <a:avLst/>
            <a:gdLst/>
            <a:ahLst/>
            <a:cxnLst/>
            <a:rect l="l" t="t" r="r" b="b"/>
            <a:pathLst>
              <a:path w="1139806" h="1089815">
                <a:moveTo>
                  <a:pt x="0" y="0"/>
                </a:moveTo>
                <a:lnTo>
                  <a:pt x="1139807" y="0"/>
                </a:lnTo>
                <a:lnTo>
                  <a:pt x="1139807" y="1089815"/>
                </a:lnTo>
                <a:lnTo>
                  <a:pt x="0" y="108981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7" name="Freeform 17"/>
          <p:cNvSpPr/>
          <p:nvPr/>
        </p:nvSpPr>
        <p:spPr>
          <a:xfrm>
            <a:off x="9847194" y="6912216"/>
            <a:ext cx="912693" cy="851847"/>
          </a:xfrm>
          <a:custGeom>
            <a:avLst/>
            <a:gdLst/>
            <a:ahLst/>
            <a:cxnLst/>
            <a:rect l="l" t="t" r="r" b="b"/>
            <a:pathLst>
              <a:path w="912693" h="851847">
                <a:moveTo>
                  <a:pt x="0" y="0"/>
                </a:moveTo>
                <a:lnTo>
                  <a:pt x="912693" y="0"/>
                </a:lnTo>
                <a:lnTo>
                  <a:pt x="912693" y="851847"/>
                </a:lnTo>
                <a:lnTo>
                  <a:pt x="0" y="85184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8" name="Freeform 18"/>
          <p:cNvSpPr/>
          <p:nvPr/>
        </p:nvSpPr>
        <p:spPr>
          <a:xfrm>
            <a:off x="7369247" y="4490906"/>
            <a:ext cx="1130572" cy="758201"/>
          </a:xfrm>
          <a:custGeom>
            <a:avLst/>
            <a:gdLst/>
            <a:ahLst/>
            <a:cxnLst/>
            <a:rect l="l" t="t" r="r" b="b"/>
            <a:pathLst>
              <a:path w="1130572" h="758201">
                <a:moveTo>
                  <a:pt x="0" y="0"/>
                </a:moveTo>
                <a:lnTo>
                  <a:pt x="1130572" y="0"/>
                </a:lnTo>
                <a:lnTo>
                  <a:pt x="1130572" y="758201"/>
                </a:lnTo>
                <a:lnTo>
                  <a:pt x="0" y="7582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5302250" y="981339"/>
            <a:ext cx="7683500" cy="981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74"/>
              </a:lnSpc>
            </a:pPr>
            <a:r>
              <a:rPr lang="en-US" sz="639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Gelecek Çalışmalar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84300" y="3247772"/>
            <a:ext cx="3425784" cy="2243366"/>
            <a:chOff x="0" y="0"/>
            <a:chExt cx="4567711" cy="2991155"/>
          </a:xfrm>
        </p:grpSpPr>
        <p:sp>
          <p:nvSpPr>
            <p:cNvPr id="21" name="TextBox 21"/>
            <p:cNvSpPr txBox="1"/>
            <p:nvPr/>
          </p:nvSpPr>
          <p:spPr>
            <a:xfrm>
              <a:off x="0" y="-38100"/>
              <a:ext cx="4567711" cy="1032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Mobil Uygulama</a:t>
              </a:r>
            </a:p>
            <a:p>
              <a:pPr marL="0" lvl="0" indent="0" algn="l">
                <a:lnSpc>
                  <a:spcPts val="2979"/>
                </a:lnSpc>
              </a:pPr>
              <a:r>
                <a:rPr lang="en-US" sz="2128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Entegrasyonu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1328090"/>
              <a:ext cx="4567711" cy="1663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180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iOS ve Android platformlarında native uygulama geliştirme</a:t>
              </a:r>
            </a:p>
            <a:p>
              <a:pPr marL="0" lvl="0" indent="0" algn="l">
                <a:lnSpc>
                  <a:spcPts val="2520"/>
                </a:lnSpc>
              </a:pPr>
              <a:r>
                <a:rPr lang="en-US" sz="180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Mobil kullanıcı deneyimi optimizasyonu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477916" y="3247772"/>
            <a:ext cx="3425784" cy="1929041"/>
            <a:chOff x="0" y="0"/>
            <a:chExt cx="4567711" cy="2572055"/>
          </a:xfrm>
        </p:grpSpPr>
        <p:sp>
          <p:nvSpPr>
            <p:cNvPr id="24" name="TextBox 24"/>
            <p:cNvSpPr txBox="1"/>
            <p:nvPr/>
          </p:nvSpPr>
          <p:spPr>
            <a:xfrm>
              <a:off x="0" y="-38100"/>
              <a:ext cx="4567711" cy="1032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Gelişmiş Ödeme Sistemleri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1328090"/>
              <a:ext cx="4567711" cy="12439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180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Kredi kartı ve havale entegrasyonu</a:t>
              </a:r>
            </a:p>
            <a:p>
              <a:pPr marL="0" lvl="0" indent="0" algn="l">
                <a:lnSpc>
                  <a:spcPts val="2520"/>
                </a:lnSpc>
              </a:pPr>
              <a:r>
                <a:rPr lang="en-US" sz="180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Güvenli ödeme altyapısı ve escrow sistemi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84300" y="6489763"/>
            <a:ext cx="3425784" cy="2243366"/>
            <a:chOff x="0" y="0"/>
            <a:chExt cx="4567711" cy="2991155"/>
          </a:xfrm>
        </p:grpSpPr>
        <p:sp>
          <p:nvSpPr>
            <p:cNvPr id="27" name="TextBox 27"/>
            <p:cNvSpPr txBox="1"/>
            <p:nvPr/>
          </p:nvSpPr>
          <p:spPr>
            <a:xfrm>
              <a:off x="0" y="-38100"/>
              <a:ext cx="4567711" cy="1032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Değerlendirme</a:t>
              </a:r>
            </a:p>
            <a:p>
              <a:pPr marL="0" lvl="0" indent="0" algn="l">
                <a:lnSpc>
                  <a:spcPts val="2979"/>
                </a:lnSpc>
              </a:pPr>
              <a:r>
                <a:rPr lang="en-US" sz="2128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Mekanizması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1328090"/>
              <a:ext cx="4567711" cy="16630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180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Kullanıcı puanlama ve yorum sistemi</a:t>
              </a:r>
            </a:p>
            <a:p>
              <a:pPr marL="0" lvl="0" indent="0" algn="l">
                <a:lnSpc>
                  <a:spcPts val="2520"/>
                </a:lnSpc>
              </a:pPr>
              <a:r>
                <a:rPr lang="en-US" sz="180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Güvenilirlik skorlaması ve geri bildirim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477916" y="6489763"/>
            <a:ext cx="3425784" cy="1614716"/>
            <a:chOff x="0" y="0"/>
            <a:chExt cx="4567711" cy="2152955"/>
          </a:xfrm>
        </p:grpSpPr>
        <p:sp>
          <p:nvSpPr>
            <p:cNvPr id="30" name="TextBox 30"/>
            <p:cNvSpPr txBox="1"/>
            <p:nvPr/>
          </p:nvSpPr>
          <p:spPr>
            <a:xfrm>
              <a:off x="0" y="-38100"/>
              <a:ext cx="4567711" cy="10328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9"/>
                </a:lnSpc>
              </a:pPr>
              <a:r>
                <a:rPr lang="en-US" sz="2128" b="1">
                  <a:solidFill>
                    <a:srgbClr val="00182E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Yapay Zeka Destekli Öneriler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1328090"/>
              <a:ext cx="4567711" cy="8248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520"/>
                </a:lnSpc>
              </a:pPr>
              <a:r>
                <a:rPr lang="en-US" sz="180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Akıllı arama ve öneri algoritmaları</a:t>
              </a:r>
            </a:p>
            <a:p>
              <a:pPr marL="0" lvl="0" indent="0" algn="l">
                <a:lnSpc>
                  <a:spcPts val="2520"/>
                </a:lnSpc>
              </a:pPr>
              <a:r>
                <a:rPr lang="en-US" sz="1800">
                  <a:solidFill>
                    <a:srgbClr val="00182E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Kişiselleştirilmiş ürün tavsiyeleri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4000500" y="-4000500"/>
            <a:ext cx="10287000" cy="18288000"/>
          </a:xfrm>
          <a:custGeom>
            <a:avLst/>
            <a:gdLst/>
            <a:ahLst/>
            <a:cxnLst/>
            <a:rect l="l" t="t" r="r" b="b"/>
            <a:pathLst>
              <a:path w="10287000" h="18288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12888" r="-12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73062" y="0"/>
            <a:ext cx="17914938" cy="9785848"/>
            <a:chOff x="0" y="0"/>
            <a:chExt cx="4718337" cy="25773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8338" cy="2577343"/>
            </a:xfrm>
            <a:custGeom>
              <a:avLst/>
              <a:gdLst/>
              <a:ahLst/>
              <a:cxnLst/>
              <a:rect l="l" t="t" r="r" b="b"/>
              <a:pathLst>
                <a:path w="4718338" h="2577343">
                  <a:moveTo>
                    <a:pt x="0" y="0"/>
                  </a:moveTo>
                  <a:lnTo>
                    <a:pt x="4718338" y="0"/>
                  </a:lnTo>
                  <a:lnTo>
                    <a:pt x="4718338" y="2577343"/>
                  </a:lnTo>
                  <a:lnTo>
                    <a:pt x="0" y="2577343"/>
                  </a:lnTo>
                  <a:close/>
                </a:path>
              </a:pathLst>
            </a:custGeom>
            <a:solidFill>
              <a:srgbClr val="02305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4718337" cy="26725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927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2598379">
            <a:off x="15606505" y="-580360"/>
            <a:ext cx="3814340" cy="2828192"/>
          </a:xfrm>
          <a:custGeom>
            <a:avLst/>
            <a:gdLst/>
            <a:ahLst/>
            <a:cxnLst/>
            <a:rect l="l" t="t" r="r" b="b"/>
            <a:pathLst>
              <a:path w="3814340" h="2828192">
                <a:moveTo>
                  <a:pt x="0" y="0"/>
                </a:moveTo>
                <a:lnTo>
                  <a:pt x="3814340" y="0"/>
                </a:lnTo>
                <a:lnTo>
                  <a:pt x="3814340" y="2828192"/>
                </a:lnTo>
                <a:lnTo>
                  <a:pt x="0" y="28281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9999"/>
              <a:extLst>
                <a:ext uri="{96DAC541-7B7A-43D3-8B79-37D633B846F1}">
                  <asvg:svgBlip xmlns="" xmlns:asvg="http://schemas.microsoft.com/office/drawing/2016/SVG/main" r:embed="rId4"/>
                </a:ext>
              </a:extLst>
            </a:blip>
            <a:stretch>
              <a:fillRect t="-39654" b="-33254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373063" y="0"/>
            <a:ext cx="746125" cy="10287000"/>
            <a:chOff x="0" y="0"/>
            <a:chExt cx="196510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6510" cy="2709333"/>
            </a:xfrm>
            <a:custGeom>
              <a:avLst/>
              <a:gdLst/>
              <a:ahLst/>
              <a:cxnLst/>
              <a:rect l="l" t="t" r="r" b="b"/>
              <a:pathLst>
                <a:path w="196510" h="2709333">
                  <a:moveTo>
                    <a:pt x="0" y="0"/>
                  </a:moveTo>
                  <a:lnTo>
                    <a:pt x="196510" y="0"/>
                  </a:lnTo>
                  <a:lnTo>
                    <a:pt x="196510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C8BC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85725"/>
              <a:ext cx="196510" cy="2795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766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489048" y="1837953"/>
            <a:ext cx="2654859" cy="943752"/>
            <a:chOff x="0" y="0"/>
            <a:chExt cx="3539812" cy="1258337"/>
          </a:xfrm>
        </p:grpSpPr>
        <p:sp>
          <p:nvSpPr>
            <p:cNvPr id="11" name="TextBox 11"/>
            <p:cNvSpPr txBox="1"/>
            <p:nvPr/>
          </p:nvSpPr>
          <p:spPr>
            <a:xfrm>
              <a:off x="1138086" y="46528"/>
              <a:ext cx="2401726" cy="12118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763"/>
                </a:lnSpc>
              </a:pPr>
              <a:r>
                <a:rPr lang="en-US" sz="2428" b="1">
                  <a:solidFill>
                    <a:srgbClr val="FFFFFF"/>
                  </a:solidFill>
                  <a:latin typeface="Source Sans Pro Bold"/>
                  <a:ea typeface="Source Sans Pro Bold"/>
                  <a:cs typeface="Source Sans Pro Bold"/>
                  <a:sym typeface="Source Sans Pro Bold"/>
                </a:rPr>
                <a:t>İkinci El Alım Satım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911193" cy="583163"/>
            </a:xfrm>
            <a:custGeom>
              <a:avLst/>
              <a:gdLst/>
              <a:ahLst/>
              <a:cxnLst/>
              <a:rect l="l" t="t" r="r" b="b"/>
              <a:pathLst>
                <a:path w="911193" h="583163">
                  <a:moveTo>
                    <a:pt x="0" y="0"/>
                  </a:moveTo>
                  <a:lnTo>
                    <a:pt x="911193" y="0"/>
                  </a:lnTo>
                  <a:lnTo>
                    <a:pt x="911193" y="583163"/>
                  </a:lnTo>
                  <a:lnTo>
                    <a:pt x="0" y="583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=""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6235599" y="5143500"/>
            <a:ext cx="519252" cy="519252"/>
            <a:chOff x="0" y="0"/>
            <a:chExt cx="692336" cy="69233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692336" cy="692336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8BC3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6200" y="-9525"/>
                <a:ext cx="660400" cy="7461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66"/>
                  </a:lnSpc>
                </a:pPr>
                <a:endParaRPr/>
              </a:p>
            </p:txBody>
          </p:sp>
        </p:grpSp>
        <p:sp>
          <p:nvSpPr>
            <p:cNvPr id="17" name="Freeform 17"/>
            <p:cNvSpPr/>
            <p:nvPr/>
          </p:nvSpPr>
          <p:spPr>
            <a:xfrm>
              <a:off x="175370" y="159758"/>
              <a:ext cx="341596" cy="372820"/>
            </a:xfrm>
            <a:custGeom>
              <a:avLst/>
              <a:gdLst/>
              <a:ahLst/>
              <a:cxnLst/>
              <a:rect l="l" t="t" r="r" b="b"/>
              <a:pathLst>
                <a:path w="341596" h="372820">
                  <a:moveTo>
                    <a:pt x="0" y="0"/>
                  </a:moveTo>
                  <a:lnTo>
                    <a:pt x="341596" y="0"/>
                  </a:lnTo>
                  <a:lnTo>
                    <a:pt x="341596" y="372820"/>
                  </a:lnTo>
                  <a:lnTo>
                    <a:pt x="0" y="3728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=""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5631953" y="3151845"/>
            <a:ext cx="6369050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10552"/>
              </a:lnSpc>
            </a:pPr>
            <a:r>
              <a:rPr lang="en-US" sz="8793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Teşekkürler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754851" y="5105400"/>
            <a:ext cx="4123254" cy="726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79"/>
              </a:lnSpc>
            </a:pPr>
            <a:r>
              <a:rPr lang="en-US" sz="2128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Bilgisayar Mühendisliği Bölümü, Mühendislik Fakültesi</a:t>
            </a:r>
          </a:p>
        </p:txBody>
      </p:sp>
      <p:sp>
        <p:nvSpPr>
          <p:cNvPr id="20" name="Freeform 20"/>
          <p:cNvSpPr/>
          <p:nvPr/>
        </p:nvSpPr>
        <p:spPr>
          <a:xfrm>
            <a:off x="16783732" y="1028700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6" y="0"/>
                </a:lnTo>
                <a:lnTo>
                  <a:pt x="95113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 t="-78900" r="-112980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28700" y="1028700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7" y="0"/>
                </a:lnTo>
                <a:lnTo>
                  <a:pt x="951137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 t="-78900" r="-112980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028700" y="8813863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7" y="0"/>
                </a:lnTo>
                <a:lnTo>
                  <a:pt x="951137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 t="-78900" r="-112980"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783732" y="8813863"/>
            <a:ext cx="951137" cy="444437"/>
          </a:xfrm>
          <a:custGeom>
            <a:avLst/>
            <a:gdLst/>
            <a:ahLst/>
            <a:cxnLst/>
            <a:rect l="l" t="t" r="r" b="b"/>
            <a:pathLst>
              <a:path w="951137" h="444437">
                <a:moveTo>
                  <a:pt x="0" y="0"/>
                </a:moveTo>
                <a:lnTo>
                  <a:pt x="951136" y="0"/>
                </a:lnTo>
                <a:lnTo>
                  <a:pt x="951136" y="444437"/>
                </a:lnTo>
                <a:lnTo>
                  <a:pt x="0" y="4444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 t="-78900" r="-112980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882</Words>
  <Application>Microsoft Office PowerPoint</Application>
  <PresentationFormat>Özel</PresentationFormat>
  <Paragraphs>148</Paragraphs>
  <Slides>14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8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23" baseType="lpstr">
      <vt:lpstr>Arial</vt:lpstr>
      <vt:lpstr>Helvetica World Italics</vt:lpstr>
      <vt:lpstr>Source Sans Pro Bold</vt:lpstr>
      <vt:lpstr>Source Sans Pro Italics</vt:lpstr>
      <vt:lpstr>Helvetica World</vt:lpstr>
      <vt:lpstr>Calibri</vt:lpstr>
      <vt:lpstr>Source Sans Pro</vt:lpstr>
      <vt:lpstr>Helvetica World Bold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Alışveriş Platformu – 2. El Alım Satım Projesi</dc:title>
  <cp:lastModifiedBy>Berat</cp:lastModifiedBy>
  <cp:revision>14</cp:revision>
  <dcterms:created xsi:type="dcterms:W3CDTF">2006-08-16T00:00:00Z</dcterms:created>
  <dcterms:modified xsi:type="dcterms:W3CDTF">2026-05-17T15:22:58Z</dcterms:modified>
  <dc:identifier>DAHJxt7ut1w</dc:identifier>
</cp:coreProperties>
</file>